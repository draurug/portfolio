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The topic is how machine learning can catch fraudsters in the Ethereum network. I will walk you from the problem to the result.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hurts: a lot of money, a lot of fraudsters, and the addresses are anonymous. You cannot check millions of transactions by hand. The way in: the whole history is open.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list of what the work covers: from data analysis to the pipeline, training and evaluating the best model. The aim, said out loud: build the models and evaluate them honestly, without leakage.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addresses from Kaggle. Almost 10 thousand accounts, 50 features, and a skew: fraudsters are only about a fifth. The features fall into four meaningful groups.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checked how the features relate to each other. The groups are visible: transaction counters correlate with each other, ERC20 features with each other; some columns are outright identical (all-zero ERC20) - I kept them, trees do not mind redundancy. The key point: no feature correlates with the label above 0.95, so nothing simply gives the answer away. Identical ROWS are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Fraudsters really do behave differently: they live days rather than months and make fewer operations with a narrower circle of addresses. Visible in the table and in the charts.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part. I found duplicates; under an ordinary split the copies land in both train and test, so the metrics cannot be trusted. I fixed it with a grouped split. The surprise: the numbers barely moved, so the scores came from the features. But without checking I would not have known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features suggested by the analysis, one shared preprocessor. The principle examiners like to ask about: everything is fitted on the training sample only, otherwise it is leakage again, just a quieter kind.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models, imbalance handled with class weights. I selected the best one on cross-validation, not on the test set. The main metric is PR-AUC: accuracy gives 78% just by guessing “not fraud”, ROC-AUC is inflated by the legitimate rows, and PR-AUC looks at the fraudsters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models side by side. The three ensembles are practically level and strong, logistic regression is clearly behind. The ensembles winning is not an accident of one split.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LightGBM. Logistic regression is simple but linear, so many false alarms. The forest is reliable but heavier. XGBoost is accurate but fussy about settings. LightGBM gave the best balance of quality and speed, so I chose it; the gap to the other ensembles is within noise.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winner is LightGBM. On the test set it is close to perfect: five of 436 fraudsters missed and six false alarms. For a monitoring system that is a good place to be.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data is non-linear, so the trees handle it and the linear model does not. The metric that matters most is recall. And the most influential features are the same ones that separated the classes best in the exploratory analysis.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points to close on: leakage found and removed, a near-perfect LightGBM, and a reproducible pipeline. Where to go next: tuning, the decision threshold, SHAP explanations and online monitoring.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02920"/>
            <a:ext cx="10058400" cy="822960"/>
          </a:xfrm>
          <a:prstGeom prst="rect">
            <a:avLst/>
          </a:prstGeom>
          <a:noFill/>
        </p:spPr>
        <p:txBody>
          <a:bodyPr wrap="square" anchor="t" lIns="0" rIns="0" tIns="0" bIns="0">
            <a:spAutoFit/>
          </a:bodyPr>
          <a:lstStyle/>
          <a:p>
            <a:pPr algn="ctr">
              <a:lnSpc>
                <a:spcPct val="110000"/>
              </a:lnSpc>
              <a:spcBef>
                <a:spcPts val="0"/>
              </a:spcBef>
              <a:spcAft>
                <a:spcPts val="0"/>
              </a:spcAft>
            </a:pPr>
            <a:r>
              <a:rPr sz="1450" b="1" i="0">
                <a:solidFill>
                  <a:srgbClr val="64748B"/>
                </a:solidFill>
                <a:latin typeface="Calibri"/>
              </a:rPr>
              <a:t>Odesa I. I. Mechnikov National University</a:t>
            </a:r>
          </a:p>
          <a:p>
            <a:pPr algn="ctr">
              <a:lnSpc>
                <a:spcPct val="110000"/>
              </a:lnSpc>
              <a:spcBef>
                <a:spcPts val="0"/>
              </a:spcBef>
              <a:spcAft>
                <a:spcPts val="0"/>
              </a:spcAft>
            </a:pPr>
            <a:r>
              <a:rPr sz="1300" b="0" i="0">
                <a:solidFill>
                  <a:srgbClr val="64748B"/>
                </a:solidFill>
                <a:latin typeface="Calibri"/>
              </a:rPr>
              <a:t>Faculty of Mathematics, Physics and Information Technologies</a:t>
            </a:r>
          </a:p>
        </p:txBody>
      </p:sp>
      <p:sp>
        <p:nvSpPr>
          <p:cNvPr id="4" name="TextBox 3"/>
          <p:cNvSpPr txBox="1"/>
          <p:nvPr/>
        </p:nvSpPr>
        <p:spPr>
          <a:xfrm>
            <a:off x="868680" y="1965960"/>
            <a:ext cx="6675120" cy="2926080"/>
          </a:xfrm>
          <a:prstGeom prst="rect">
            <a:avLst/>
          </a:prstGeom>
          <a:noFill/>
        </p:spPr>
        <p:txBody>
          <a:bodyPr wrap="square" anchor="t" lIns="0" rIns="0" tIns="0" bIns="0">
            <a:spAutoFit/>
          </a:bodyPr>
          <a:lstStyle/>
          <a:p>
            <a:pPr algn="l">
              <a:spcBef>
                <a:spcPts val="0"/>
              </a:spcBef>
              <a:spcAft>
                <a:spcPts val="0"/>
              </a:spcAft>
            </a:pPr>
            <a:r>
              <a:rPr sz="1300" b="1" i="0" spc="160">
                <a:solidFill>
                  <a:srgbClr val="4F46E5"/>
                </a:solidFill>
                <a:latin typeface="Calibri"/>
              </a:rPr>
              <a:t>COURSEWORK · 2026</a:t>
            </a:r>
          </a:p>
          <a:p>
            <a:pPr algn="l">
              <a:lnSpc>
                <a:spcPct val="104000"/>
              </a:lnSpc>
              <a:spcBef>
                <a:spcPts val="1200"/>
              </a:spcBef>
              <a:spcAft>
                <a:spcPts val="0"/>
              </a:spcAft>
            </a:pPr>
            <a:r>
              <a:rPr sz="3700" b="1" i="0">
                <a:solidFill>
                  <a:srgbClr val="1E293B"/>
                </a:solidFill>
                <a:latin typeface="Calibri"/>
              </a:rPr>
              <a:t>Fraud detection
in the Ethereum network</a:t>
            </a:r>
          </a:p>
          <a:p>
            <a:pPr algn="l">
              <a:lnSpc>
                <a:spcPct val="105000"/>
              </a:lnSpc>
              <a:spcBef>
                <a:spcPts val="800"/>
              </a:spcBef>
              <a:spcAft>
                <a:spcPts val="0"/>
              </a:spcAft>
            </a:pPr>
            <a:r>
              <a:rPr sz="2000" b="0" i="0">
                <a:solidFill>
                  <a:srgbClr val="3730A3"/>
                </a:solidFill>
                <a:latin typeface="Calibri"/>
              </a:rPr>
              <a:t>with machine learning methods</a:t>
            </a:r>
          </a:p>
        </p:txBody>
      </p:sp>
      <p:pic>
        <p:nvPicPr>
          <p:cNvPr id="5" name="Picture 4" descr="motif_network.png"/>
          <p:cNvPicPr>
            <a:picLocks noChangeAspect="1"/>
          </p:cNvPicPr>
          <p:nvPr/>
        </p:nvPicPr>
        <p:blipFill>
          <a:blip r:embed="rId2"/>
          <a:stretch>
            <a:fillRect/>
          </a:stretch>
        </p:blipFill>
        <p:spPr>
          <a:xfrm>
            <a:off x="7498079" y="1872706"/>
            <a:ext cx="4206240" cy="3021148"/>
          </a:xfrm>
          <a:prstGeom prst="rect">
            <a:avLst/>
          </a:prstGeom>
        </p:spPr>
      </p:pic>
      <p:sp>
        <p:nvSpPr>
          <p:cNvPr id="6" name="TextBox 5"/>
          <p:cNvSpPr txBox="1"/>
          <p:nvPr/>
        </p:nvSpPr>
        <p:spPr>
          <a:xfrm>
            <a:off x="868680" y="5349240"/>
            <a:ext cx="8229600" cy="1280160"/>
          </a:xfrm>
          <a:prstGeom prst="rect">
            <a:avLst/>
          </a:prstGeom>
          <a:noFill/>
        </p:spPr>
        <p:txBody>
          <a:bodyPr wrap="square" anchor="t" lIns="0" rIns="0" tIns="0" bIns="0">
            <a:spAutoFit/>
          </a:bodyPr>
          <a:lstStyle/>
          <a:p>
            <a:pPr algn="l">
              <a:lnSpc>
                <a:spcPct val="120000"/>
              </a:lnSpc>
              <a:spcBef>
                <a:spcPts val="0"/>
              </a:spcBef>
              <a:spcAft>
                <a:spcPts val="0"/>
              </a:spcAft>
            </a:pPr>
            <a:r>
              <a:rPr sz="1400" b="0" i="0">
                <a:solidFill>
                  <a:srgbClr val="64748B"/>
                </a:solidFill>
                <a:latin typeface="Calibri"/>
              </a:rPr>
              <a:t>Author: </a:t>
            </a:r>
            <a:r>
              <a:rPr sz="1400" b="1" i="0">
                <a:solidFill>
                  <a:srgbClr val="1E293B"/>
                </a:solidFill>
                <a:latin typeface="Calibri"/>
              </a:rPr>
              <a:t>Uliana O. Hrab</a:t>
            </a:r>
          </a:p>
          <a:p>
            <a:pPr algn="l">
              <a:lnSpc>
                <a:spcPct val="120000"/>
              </a:lnSpc>
              <a:spcBef>
                <a:spcPts val="0"/>
              </a:spcBef>
              <a:spcAft>
                <a:spcPts val="0"/>
              </a:spcAft>
            </a:pPr>
            <a:r>
              <a:rPr sz="1300" b="0" i="0">
                <a:solidFill>
                  <a:srgbClr val="64748B"/>
                </a:solidFill>
                <a:latin typeface="Calibri"/>
              </a:rPr>
              <a:t>Third year · speciality 113 “Applied Mathematics”</a:t>
            </a:r>
          </a:p>
          <a:p>
            <a:pPr algn="l">
              <a:lnSpc>
                <a:spcPct val="120000"/>
              </a:lnSpc>
              <a:spcBef>
                <a:spcPts val="0"/>
              </a:spcBef>
              <a:spcAft>
                <a:spcPts val="0"/>
              </a:spcAft>
            </a:pPr>
            <a:r>
              <a:rPr sz="1300" b="0" i="0">
                <a:solidFill>
                  <a:srgbClr val="64748B"/>
                </a:solidFill>
                <a:latin typeface="Calibri"/>
              </a:rPr>
              <a:t>Supervisor: Cand. Sc. (Phys.-Math.), Assoc. Prof. Ye. M. Strakhov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CONTEXT</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02</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Why this matters</a:t>
            </a:r>
          </a:p>
        </p:txBody>
      </p:sp>
      <p:sp>
        <p:nvSpPr>
          <p:cNvPr id="6" name="Rectangle 5"/>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phishing.png"/>
          <p:cNvPicPr>
            <a:picLocks noChangeAspect="1"/>
          </p:cNvPicPr>
          <p:nvPr/>
        </p:nvPicPr>
        <p:blipFill>
          <a:blip r:embed="rId2"/>
          <a:stretch>
            <a:fillRect/>
          </a:stretch>
        </p:blipFill>
        <p:spPr>
          <a:xfrm>
            <a:off x="868680" y="1783080"/>
            <a:ext cx="548640" cy="548640"/>
          </a:xfrm>
          <a:prstGeom prst="rect">
            <a:avLst/>
          </a:prstGeom>
        </p:spPr>
      </p:pic>
      <p:sp>
        <p:nvSpPr>
          <p:cNvPr id="8" name="TextBox 7"/>
          <p:cNvSpPr txBox="1"/>
          <p:nvPr/>
        </p:nvSpPr>
        <p:spPr>
          <a:xfrm>
            <a:off x="1655064" y="1746504"/>
            <a:ext cx="4937760" cy="640080"/>
          </a:xfrm>
          <a:prstGeom prst="rect">
            <a:avLst/>
          </a:prstGeom>
          <a:noFill/>
        </p:spPr>
        <p:txBody>
          <a:bodyPr wrap="square" anchor="ctr" lIns="0" rIns="0" tIns="0" bIns="0">
            <a:spAutoFit/>
          </a:bodyPr>
          <a:lstStyle/>
          <a:p>
            <a:pPr algn="l">
              <a:lnSpc>
                <a:spcPct val="100000"/>
              </a:lnSpc>
              <a:spcBef>
                <a:spcPts val="0"/>
              </a:spcBef>
              <a:spcAft>
                <a:spcPts val="0"/>
              </a:spcAft>
            </a:pPr>
            <a:r>
              <a:rPr sz="1600" b="1" i="0">
                <a:solidFill>
                  <a:srgbClr val="1E293B"/>
                </a:solidFill>
                <a:latin typeface="Calibri"/>
              </a:rPr>
              <a:t>Fraud is growing</a:t>
            </a:r>
          </a:p>
          <a:p>
            <a:pPr algn="l">
              <a:lnSpc>
                <a:spcPct val="100000"/>
              </a:lnSpc>
              <a:spcBef>
                <a:spcPts val="100"/>
              </a:spcBef>
              <a:spcAft>
                <a:spcPts val="0"/>
              </a:spcAft>
            </a:pPr>
            <a:r>
              <a:rPr sz="1250" b="0" i="0">
                <a:solidFill>
                  <a:srgbClr val="64748B"/>
                </a:solidFill>
                <a:latin typeface="Calibri"/>
              </a:rPr>
              <a:t>phishing, Ponzi schemes, fake tokens</a:t>
            </a:r>
          </a:p>
        </p:txBody>
      </p:sp>
      <p:pic>
        <p:nvPicPr>
          <p:cNvPr id="9" name="Picture 8" descr="ic_anon.png"/>
          <p:cNvPicPr>
            <a:picLocks noChangeAspect="1"/>
          </p:cNvPicPr>
          <p:nvPr/>
        </p:nvPicPr>
        <p:blipFill>
          <a:blip r:embed="rId3"/>
          <a:stretch>
            <a:fillRect/>
          </a:stretch>
        </p:blipFill>
        <p:spPr>
          <a:xfrm>
            <a:off x="868680" y="2606040"/>
            <a:ext cx="548640" cy="548640"/>
          </a:xfrm>
          <a:prstGeom prst="rect">
            <a:avLst/>
          </a:prstGeom>
        </p:spPr>
      </p:pic>
      <p:sp>
        <p:nvSpPr>
          <p:cNvPr id="10" name="TextBox 9"/>
          <p:cNvSpPr txBox="1"/>
          <p:nvPr/>
        </p:nvSpPr>
        <p:spPr>
          <a:xfrm>
            <a:off x="1655064" y="2569464"/>
            <a:ext cx="4937760" cy="640080"/>
          </a:xfrm>
          <a:prstGeom prst="rect">
            <a:avLst/>
          </a:prstGeom>
          <a:noFill/>
        </p:spPr>
        <p:txBody>
          <a:bodyPr wrap="square" anchor="ctr" lIns="0" rIns="0" tIns="0" bIns="0">
            <a:spAutoFit/>
          </a:bodyPr>
          <a:lstStyle/>
          <a:p>
            <a:pPr algn="l">
              <a:lnSpc>
                <a:spcPct val="100000"/>
              </a:lnSpc>
              <a:spcBef>
                <a:spcPts val="0"/>
              </a:spcBef>
              <a:spcAft>
                <a:spcPts val="0"/>
              </a:spcAft>
            </a:pPr>
            <a:r>
              <a:rPr sz="1600" b="1" i="0">
                <a:solidFill>
                  <a:srgbClr val="1E293B"/>
                </a:solidFill>
                <a:latin typeface="Calibri"/>
              </a:rPr>
              <a:t>Accounts are pseudonymous</a:t>
            </a:r>
          </a:p>
          <a:p>
            <a:pPr algn="l">
              <a:lnSpc>
                <a:spcPct val="100000"/>
              </a:lnSpc>
              <a:spcBef>
                <a:spcPts val="100"/>
              </a:spcBef>
              <a:spcAft>
                <a:spcPts val="0"/>
              </a:spcAft>
            </a:pPr>
            <a:r>
              <a:rPr sz="1250" b="0" i="0">
                <a:solidFill>
                  <a:srgbClr val="64748B"/>
                </a:solidFill>
                <a:latin typeface="Calibri"/>
              </a:rPr>
              <a:t>an address does not show who is behind it</a:t>
            </a:r>
          </a:p>
        </p:txBody>
      </p:sp>
      <p:pic>
        <p:nvPicPr>
          <p:cNvPr id="11" name="Picture 10" descr="ic_volume.png"/>
          <p:cNvPicPr>
            <a:picLocks noChangeAspect="1"/>
          </p:cNvPicPr>
          <p:nvPr/>
        </p:nvPicPr>
        <p:blipFill>
          <a:blip r:embed="rId4"/>
          <a:stretch>
            <a:fillRect/>
          </a:stretch>
        </p:blipFill>
        <p:spPr>
          <a:xfrm>
            <a:off x="868680" y="3429000"/>
            <a:ext cx="548640" cy="548640"/>
          </a:xfrm>
          <a:prstGeom prst="rect">
            <a:avLst/>
          </a:prstGeom>
        </p:spPr>
      </p:pic>
      <p:sp>
        <p:nvSpPr>
          <p:cNvPr id="12" name="TextBox 11"/>
          <p:cNvSpPr txBox="1"/>
          <p:nvPr/>
        </p:nvSpPr>
        <p:spPr>
          <a:xfrm>
            <a:off x="1655064" y="3392424"/>
            <a:ext cx="4937760" cy="640080"/>
          </a:xfrm>
          <a:prstGeom prst="rect">
            <a:avLst/>
          </a:prstGeom>
          <a:noFill/>
        </p:spPr>
        <p:txBody>
          <a:bodyPr wrap="square" anchor="ctr" lIns="0" rIns="0" tIns="0" bIns="0">
            <a:spAutoFit/>
          </a:bodyPr>
          <a:lstStyle/>
          <a:p>
            <a:pPr algn="l">
              <a:lnSpc>
                <a:spcPct val="100000"/>
              </a:lnSpc>
              <a:spcBef>
                <a:spcPts val="0"/>
              </a:spcBef>
              <a:spcAft>
                <a:spcPts val="0"/>
              </a:spcAft>
            </a:pPr>
            <a:r>
              <a:rPr sz="1600" b="1" i="0">
                <a:solidFill>
                  <a:srgbClr val="1E293B"/>
                </a:solidFill>
                <a:latin typeface="Calibri"/>
              </a:rPr>
              <a:t>Millions of transactions a day</a:t>
            </a:r>
          </a:p>
          <a:p>
            <a:pPr algn="l">
              <a:lnSpc>
                <a:spcPct val="100000"/>
              </a:lnSpc>
              <a:spcBef>
                <a:spcPts val="100"/>
              </a:spcBef>
              <a:spcAft>
                <a:spcPts val="0"/>
              </a:spcAft>
            </a:pPr>
            <a:r>
              <a:rPr sz="1250" b="0" i="0">
                <a:solidFill>
                  <a:srgbClr val="64748B"/>
                </a:solidFill>
                <a:latin typeface="Calibri"/>
              </a:rPr>
              <a:t>a scale manual review cannot reach</a:t>
            </a:r>
          </a:p>
        </p:txBody>
      </p:sp>
      <p:pic>
        <p:nvPicPr>
          <p:cNvPr id="13" name="Picture 12" descr="ic_magnifier.png"/>
          <p:cNvPicPr>
            <a:picLocks noChangeAspect="1"/>
          </p:cNvPicPr>
          <p:nvPr/>
        </p:nvPicPr>
        <p:blipFill>
          <a:blip r:embed="rId5"/>
          <a:stretch>
            <a:fillRect/>
          </a:stretch>
        </p:blipFill>
        <p:spPr>
          <a:xfrm>
            <a:off x="868680" y="4251960"/>
            <a:ext cx="548640" cy="548640"/>
          </a:xfrm>
          <a:prstGeom prst="rect">
            <a:avLst/>
          </a:prstGeom>
        </p:spPr>
      </p:pic>
      <p:sp>
        <p:nvSpPr>
          <p:cNvPr id="14" name="TextBox 13"/>
          <p:cNvSpPr txBox="1"/>
          <p:nvPr/>
        </p:nvSpPr>
        <p:spPr>
          <a:xfrm>
            <a:off x="1655064" y="4215384"/>
            <a:ext cx="4937760" cy="640080"/>
          </a:xfrm>
          <a:prstGeom prst="rect">
            <a:avLst/>
          </a:prstGeom>
          <a:noFill/>
        </p:spPr>
        <p:txBody>
          <a:bodyPr wrap="square" anchor="ctr" lIns="0" rIns="0" tIns="0" bIns="0">
            <a:spAutoFit/>
          </a:bodyPr>
          <a:lstStyle/>
          <a:p>
            <a:pPr algn="l">
              <a:lnSpc>
                <a:spcPct val="100000"/>
              </a:lnSpc>
              <a:spcBef>
                <a:spcPts val="0"/>
              </a:spcBef>
              <a:spcAft>
                <a:spcPts val="0"/>
              </a:spcAft>
            </a:pPr>
            <a:r>
              <a:rPr sz="1600" b="1" i="0">
                <a:solidFill>
                  <a:srgbClr val="1E293B"/>
                </a:solidFill>
                <a:latin typeface="Calibri"/>
              </a:rPr>
              <a:t>Manual checking does not work</a:t>
            </a:r>
          </a:p>
          <a:p>
            <a:pPr algn="l">
              <a:lnSpc>
                <a:spcPct val="100000"/>
              </a:lnSpc>
              <a:spcBef>
                <a:spcPts val="100"/>
              </a:spcBef>
              <a:spcAft>
                <a:spcPts val="0"/>
              </a:spcAft>
            </a:pPr>
            <a:r>
              <a:rPr sz="1250" b="0" i="0">
                <a:solidFill>
                  <a:srgbClr val="64748B"/>
                </a:solidFill>
                <a:latin typeface="Calibri"/>
              </a:rPr>
              <a:t>automatic detection methods are needed</a:t>
            </a:r>
          </a:p>
        </p:txBody>
      </p:sp>
      <p:pic>
        <p:nvPicPr>
          <p:cNvPr id="15" name="Picture 14" descr="actuality.png"/>
          <p:cNvPicPr>
            <a:picLocks noChangeAspect="1"/>
          </p:cNvPicPr>
          <p:nvPr/>
        </p:nvPicPr>
        <p:blipFill>
          <a:blip r:embed="rId6"/>
          <a:stretch>
            <a:fillRect/>
          </a:stretch>
        </p:blipFill>
        <p:spPr>
          <a:xfrm>
            <a:off x="7452360" y="1691640"/>
            <a:ext cx="3566160" cy="3566160"/>
          </a:xfrm>
          <a:prstGeom prst="rect">
            <a:avLst/>
          </a:prstGeom>
        </p:spPr>
      </p:pic>
      <p:sp>
        <p:nvSpPr>
          <p:cNvPr id="16" name="Rounded Rectangle 15"/>
          <p:cNvSpPr/>
          <p:nvPr/>
        </p:nvSpPr>
        <p:spPr>
          <a:xfrm>
            <a:off x="868680" y="5806440"/>
            <a:ext cx="10881360" cy="731520"/>
          </a:xfrm>
          <a:prstGeom prst="roundRect">
            <a:avLst>
              <a:gd name="adj" fmla="val 10000"/>
            </a:avLst>
          </a:prstGeom>
          <a:solidFill>
            <a:srgbClr val="EC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5806440"/>
            <a:ext cx="73152" cy="7315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61288" y="5806440"/>
            <a:ext cx="10378440" cy="731520"/>
          </a:xfrm>
          <a:prstGeom prst="rect">
            <a:avLst/>
          </a:prstGeom>
          <a:noFill/>
        </p:spPr>
        <p:txBody>
          <a:bodyPr wrap="square" anchor="ctr" lIns="0" rIns="0" tIns="0" bIns="0">
            <a:spAutoFit/>
          </a:bodyPr>
          <a:lstStyle/>
          <a:p>
            <a:pPr algn="l">
              <a:lnSpc>
                <a:spcPct val="105000"/>
              </a:lnSpc>
              <a:spcBef>
                <a:spcPts val="0"/>
              </a:spcBef>
              <a:spcAft>
                <a:spcPts val="0"/>
              </a:spcAft>
            </a:pPr>
            <a:r>
              <a:rPr sz="1500" b="1" i="0">
                <a:solidFill>
                  <a:srgbClr val="3730A3"/>
                </a:solidFill>
                <a:latin typeface="Calibri"/>
              </a:rPr>
              <a:t>The opening -  </a:t>
            </a:r>
            <a:r>
              <a:rPr sz="1500" b="0" i="0">
                <a:solidFill>
                  <a:srgbClr val="1E293B"/>
                </a:solidFill>
                <a:latin typeface="Calibri"/>
              </a:rPr>
              <a:t>the whole transaction history is public, so it can be turned into features and used to train a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OVERVIEW</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03</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457200"/>
            <a:ext cx="10881360" cy="365760"/>
          </a:xfrm>
          <a:prstGeom prst="rect">
            <a:avLst/>
          </a:prstGeom>
          <a:noFill/>
        </p:spPr>
        <p:txBody>
          <a:bodyPr wrap="square" anchor="t" lIns="0" rIns="0" tIns="0" bIns="0">
            <a:spAutoFit/>
          </a:bodyPr>
          <a:lstStyle/>
          <a:p>
            <a:pPr algn="l">
              <a:spcBef>
                <a:spcPts val="0"/>
              </a:spcBef>
              <a:spcAft>
                <a:spcPts val="0"/>
              </a:spcAft>
            </a:pPr>
            <a:r>
              <a:rPr sz="1250" b="1" i="0" spc="160">
                <a:solidFill>
                  <a:srgbClr val="4F46E5"/>
                </a:solidFill>
                <a:latin typeface="Calibri"/>
              </a:rPr>
              <a:t>AIM AND WORK DONE</a:t>
            </a:r>
          </a:p>
        </p:txBody>
      </p:sp>
      <p:sp>
        <p:nvSpPr>
          <p:cNvPr id="6" name="TextBox 5"/>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What was done</a:t>
            </a:r>
          </a:p>
        </p:txBody>
      </p:sp>
      <p:sp>
        <p:nvSpPr>
          <p:cNvPr id="7" name="Rectangle 6"/>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645920"/>
            <a:ext cx="10881360" cy="713232"/>
          </a:xfrm>
          <a:prstGeom prst="roundRect">
            <a:avLst>
              <a:gd name="adj" fmla="val 10000"/>
            </a:avLst>
          </a:prstGeom>
          <a:solidFill>
            <a:srgbClr val="EC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645920"/>
            <a:ext cx="73152" cy="71323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1645920"/>
            <a:ext cx="10378440" cy="713232"/>
          </a:xfrm>
          <a:prstGeom prst="rect">
            <a:avLst/>
          </a:prstGeom>
          <a:noFill/>
        </p:spPr>
        <p:txBody>
          <a:bodyPr wrap="square" anchor="ctr" lIns="0" rIns="0" tIns="0" bIns="0">
            <a:spAutoFit/>
          </a:bodyPr>
          <a:lstStyle/>
          <a:p>
            <a:pPr algn="l">
              <a:lnSpc>
                <a:spcPct val="105000"/>
              </a:lnSpc>
              <a:spcBef>
                <a:spcPts val="0"/>
              </a:spcBef>
              <a:spcAft>
                <a:spcPts val="0"/>
              </a:spcAft>
            </a:pPr>
            <a:r>
              <a:rPr sz="1450" b="0" i="0">
                <a:solidFill>
                  <a:srgbClr val="1E293B"/>
                </a:solidFill>
                <a:latin typeface="Calibri"/>
              </a:rPr>
              <a:t>The aim was to build and compare fraud-detection models and to evaluate them correctly, without data leakage.</a:t>
            </a:r>
          </a:p>
        </p:txBody>
      </p:sp>
      <p:sp>
        <p:nvSpPr>
          <p:cNvPr id="11" name="Oval 10"/>
          <p:cNvSpPr/>
          <p:nvPr/>
        </p:nvSpPr>
        <p:spPr>
          <a:xfrm>
            <a:off x="868680" y="269748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697480"/>
            <a:ext cx="457200" cy="457200"/>
          </a:xfrm>
          <a:prstGeom prst="rect">
            <a:avLst/>
          </a:prstGeom>
          <a:noFill/>
        </p:spPr>
        <p:txBody>
          <a:bodyPr wrap="square" anchor="ctr" lIns="0" rIns="0" tIns="0" bIns="0">
            <a:spAutoFit/>
          </a:bodyPr>
          <a:lstStyle/>
          <a:p>
            <a:pPr algn="ctr">
              <a:spcBef>
                <a:spcPts val="0"/>
              </a:spcBef>
              <a:spcAft>
                <a:spcPts val="0"/>
              </a:spcAft>
            </a:pPr>
            <a:r>
              <a:rPr sz="1700" b="1" i="0">
                <a:solidFill>
                  <a:srgbClr val="FFFFFF"/>
                </a:solidFill>
                <a:latin typeface="Calibri"/>
              </a:rPr>
              <a:t>✓</a:t>
            </a:r>
          </a:p>
        </p:txBody>
      </p:sp>
      <p:sp>
        <p:nvSpPr>
          <p:cNvPr id="13" name="TextBox 12"/>
          <p:cNvSpPr txBox="1"/>
          <p:nvPr/>
        </p:nvSpPr>
        <p:spPr>
          <a:xfrm>
            <a:off x="1527048" y="2679192"/>
            <a:ext cx="4617720" cy="566928"/>
          </a:xfrm>
          <a:prstGeom prst="rect">
            <a:avLst/>
          </a:prstGeom>
          <a:noFill/>
        </p:spPr>
        <p:txBody>
          <a:bodyPr wrap="square" anchor="ctr" lIns="0" rIns="0" tIns="0" bIns="0">
            <a:spAutoFit/>
          </a:bodyPr>
          <a:lstStyle/>
          <a:p>
            <a:pPr algn="l">
              <a:lnSpc>
                <a:spcPct val="100000"/>
              </a:lnSpc>
              <a:spcBef>
                <a:spcPts val="0"/>
              </a:spcBef>
              <a:spcAft>
                <a:spcPts val="0"/>
              </a:spcAft>
            </a:pPr>
            <a:r>
              <a:rPr sz="1350" b="0" i="0">
                <a:solidFill>
                  <a:srgbClr val="1E293B"/>
                </a:solidFill>
                <a:latin typeface="Calibri"/>
              </a:rPr>
              <a:t>analysed the data and ran an exploratory analysis</a:t>
            </a:r>
          </a:p>
        </p:txBody>
      </p:sp>
      <p:sp>
        <p:nvSpPr>
          <p:cNvPr id="14" name="Oval 13"/>
          <p:cNvSpPr/>
          <p:nvPr/>
        </p:nvSpPr>
        <p:spPr>
          <a:xfrm>
            <a:off x="868680" y="36301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630168"/>
            <a:ext cx="457200" cy="457200"/>
          </a:xfrm>
          <a:prstGeom prst="rect">
            <a:avLst/>
          </a:prstGeom>
          <a:noFill/>
        </p:spPr>
        <p:txBody>
          <a:bodyPr wrap="square" anchor="ctr" lIns="0" rIns="0" tIns="0" bIns="0">
            <a:spAutoFit/>
          </a:bodyPr>
          <a:lstStyle/>
          <a:p>
            <a:pPr algn="ctr">
              <a:spcBef>
                <a:spcPts val="0"/>
              </a:spcBef>
              <a:spcAft>
                <a:spcPts val="0"/>
              </a:spcAft>
            </a:pPr>
            <a:r>
              <a:rPr sz="1700" b="1" i="0">
                <a:solidFill>
                  <a:srgbClr val="FFFFFF"/>
                </a:solidFill>
                <a:latin typeface="Calibri"/>
              </a:rPr>
              <a:t>✓</a:t>
            </a:r>
          </a:p>
        </p:txBody>
      </p:sp>
      <p:sp>
        <p:nvSpPr>
          <p:cNvPr id="16" name="TextBox 15"/>
          <p:cNvSpPr txBox="1"/>
          <p:nvPr/>
        </p:nvSpPr>
        <p:spPr>
          <a:xfrm>
            <a:off x="1527048" y="3611880"/>
            <a:ext cx="4617720" cy="566928"/>
          </a:xfrm>
          <a:prstGeom prst="rect">
            <a:avLst/>
          </a:prstGeom>
          <a:noFill/>
        </p:spPr>
        <p:txBody>
          <a:bodyPr wrap="square" anchor="ctr" lIns="0" rIns="0" tIns="0" bIns="0">
            <a:spAutoFit/>
          </a:bodyPr>
          <a:lstStyle/>
          <a:p>
            <a:pPr algn="l">
              <a:lnSpc>
                <a:spcPct val="100000"/>
              </a:lnSpc>
              <a:spcBef>
                <a:spcPts val="0"/>
              </a:spcBef>
              <a:spcAft>
                <a:spcPts val="0"/>
              </a:spcAft>
            </a:pPr>
            <a:r>
              <a:rPr sz="1350" b="0" i="0">
                <a:solidFill>
                  <a:srgbClr val="1E293B"/>
                </a:solidFill>
                <a:latin typeface="Calibri"/>
              </a:rPr>
              <a:t>found and removed data leakage (grouped split)</a:t>
            </a:r>
          </a:p>
        </p:txBody>
      </p:sp>
      <p:sp>
        <p:nvSpPr>
          <p:cNvPr id="17" name="Oval 16"/>
          <p:cNvSpPr/>
          <p:nvPr/>
        </p:nvSpPr>
        <p:spPr>
          <a:xfrm>
            <a:off x="868680" y="456285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562856"/>
            <a:ext cx="457200" cy="457200"/>
          </a:xfrm>
          <a:prstGeom prst="rect">
            <a:avLst/>
          </a:prstGeom>
          <a:noFill/>
        </p:spPr>
        <p:txBody>
          <a:bodyPr wrap="square" anchor="ctr" lIns="0" rIns="0" tIns="0" bIns="0">
            <a:spAutoFit/>
          </a:bodyPr>
          <a:lstStyle/>
          <a:p>
            <a:pPr algn="ctr">
              <a:spcBef>
                <a:spcPts val="0"/>
              </a:spcBef>
              <a:spcAft>
                <a:spcPts val="0"/>
              </a:spcAft>
            </a:pPr>
            <a:r>
              <a:rPr sz="1700" b="1" i="0">
                <a:solidFill>
                  <a:srgbClr val="FFFFFF"/>
                </a:solidFill>
                <a:latin typeface="Calibri"/>
              </a:rPr>
              <a:t>✓</a:t>
            </a:r>
          </a:p>
        </p:txBody>
      </p:sp>
      <p:sp>
        <p:nvSpPr>
          <p:cNvPr id="19" name="TextBox 18"/>
          <p:cNvSpPr txBox="1"/>
          <p:nvPr/>
        </p:nvSpPr>
        <p:spPr>
          <a:xfrm>
            <a:off x="1527048" y="4544568"/>
            <a:ext cx="4617720" cy="566928"/>
          </a:xfrm>
          <a:prstGeom prst="rect">
            <a:avLst/>
          </a:prstGeom>
          <a:noFill/>
        </p:spPr>
        <p:txBody>
          <a:bodyPr wrap="square" anchor="ctr" lIns="0" rIns="0" tIns="0" bIns="0">
            <a:spAutoFit/>
          </a:bodyPr>
          <a:lstStyle/>
          <a:p>
            <a:pPr algn="l">
              <a:lnSpc>
                <a:spcPct val="100000"/>
              </a:lnSpc>
              <a:spcBef>
                <a:spcPts val="0"/>
              </a:spcBef>
              <a:spcAft>
                <a:spcPts val="0"/>
              </a:spcAft>
            </a:pPr>
            <a:r>
              <a:rPr sz="1350" b="0" i="0">
                <a:solidFill>
                  <a:srgbClr val="1E293B"/>
                </a:solidFill>
                <a:latin typeface="Calibri"/>
              </a:rPr>
              <a:t>engineered features and a preprocessing pipeline</a:t>
            </a:r>
          </a:p>
        </p:txBody>
      </p:sp>
      <p:sp>
        <p:nvSpPr>
          <p:cNvPr id="20" name="Oval 19"/>
          <p:cNvSpPr/>
          <p:nvPr/>
        </p:nvSpPr>
        <p:spPr>
          <a:xfrm>
            <a:off x="6400800" y="269748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697480"/>
            <a:ext cx="457200" cy="457200"/>
          </a:xfrm>
          <a:prstGeom prst="rect">
            <a:avLst/>
          </a:prstGeom>
          <a:noFill/>
        </p:spPr>
        <p:txBody>
          <a:bodyPr wrap="square" anchor="ctr" lIns="0" rIns="0" tIns="0" bIns="0">
            <a:spAutoFit/>
          </a:bodyPr>
          <a:lstStyle/>
          <a:p>
            <a:pPr algn="ctr">
              <a:spcBef>
                <a:spcPts val="0"/>
              </a:spcBef>
              <a:spcAft>
                <a:spcPts val="0"/>
              </a:spcAft>
            </a:pPr>
            <a:r>
              <a:rPr sz="1700" b="1" i="0">
                <a:solidFill>
                  <a:srgbClr val="FFFFFF"/>
                </a:solidFill>
                <a:latin typeface="Calibri"/>
              </a:rPr>
              <a:t>✓</a:t>
            </a:r>
          </a:p>
        </p:txBody>
      </p:sp>
      <p:sp>
        <p:nvSpPr>
          <p:cNvPr id="22" name="TextBox 21"/>
          <p:cNvSpPr txBox="1"/>
          <p:nvPr/>
        </p:nvSpPr>
        <p:spPr>
          <a:xfrm>
            <a:off x="7059168" y="2679192"/>
            <a:ext cx="4617720" cy="566928"/>
          </a:xfrm>
          <a:prstGeom prst="rect">
            <a:avLst/>
          </a:prstGeom>
          <a:noFill/>
        </p:spPr>
        <p:txBody>
          <a:bodyPr wrap="square" anchor="ctr" lIns="0" rIns="0" tIns="0" bIns="0">
            <a:spAutoFit/>
          </a:bodyPr>
          <a:lstStyle/>
          <a:p>
            <a:pPr algn="l">
              <a:lnSpc>
                <a:spcPct val="100000"/>
              </a:lnSpc>
              <a:spcBef>
                <a:spcPts val="0"/>
              </a:spcBef>
              <a:spcAft>
                <a:spcPts val="0"/>
              </a:spcAft>
            </a:pPr>
            <a:r>
              <a:rPr sz="1350" b="0" i="0">
                <a:solidFill>
                  <a:srgbClr val="1E293B"/>
                </a:solidFill>
                <a:latin typeface="Calibri"/>
              </a:rPr>
              <a:t>trained and compared four models by cross-validation</a:t>
            </a:r>
          </a:p>
        </p:txBody>
      </p:sp>
      <p:sp>
        <p:nvSpPr>
          <p:cNvPr id="23" name="Oval 22"/>
          <p:cNvSpPr/>
          <p:nvPr/>
        </p:nvSpPr>
        <p:spPr>
          <a:xfrm>
            <a:off x="6400800" y="36301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630168"/>
            <a:ext cx="457200" cy="457200"/>
          </a:xfrm>
          <a:prstGeom prst="rect">
            <a:avLst/>
          </a:prstGeom>
          <a:noFill/>
        </p:spPr>
        <p:txBody>
          <a:bodyPr wrap="square" anchor="ctr" lIns="0" rIns="0" tIns="0" bIns="0">
            <a:spAutoFit/>
          </a:bodyPr>
          <a:lstStyle/>
          <a:p>
            <a:pPr algn="ctr">
              <a:spcBef>
                <a:spcPts val="0"/>
              </a:spcBef>
              <a:spcAft>
                <a:spcPts val="0"/>
              </a:spcAft>
            </a:pPr>
            <a:r>
              <a:rPr sz="1700" b="1" i="0">
                <a:solidFill>
                  <a:srgbClr val="FFFFFF"/>
                </a:solidFill>
                <a:latin typeface="Calibri"/>
              </a:rPr>
              <a:t>✓</a:t>
            </a:r>
          </a:p>
        </p:txBody>
      </p:sp>
      <p:sp>
        <p:nvSpPr>
          <p:cNvPr id="25" name="TextBox 24"/>
          <p:cNvSpPr txBox="1"/>
          <p:nvPr/>
        </p:nvSpPr>
        <p:spPr>
          <a:xfrm>
            <a:off x="7059168" y="3611880"/>
            <a:ext cx="4617720" cy="566928"/>
          </a:xfrm>
          <a:prstGeom prst="rect">
            <a:avLst/>
          </a:prstGeom>
          <a:noFill/>
        </p:spPr>
        <p:txBody>
          <a:bodyPr wrap="square" anchor="ctr" lIns="0" rIns="0" tIns="0" bIns="0">
            <a:spAutoFit/>
          </a:bodyPr>
          <a:lstStyle/>
          <a:p>
            <a:pPr algn="l">
              <a:lnSpc>
                <a:spcPct val="100000"/>
              </a:lnSpc>
              <a:spcBef>
                <a:spcPts val="0"/>
              </a:spcBef>
              <a:spcAft>
                <a:spcPts val="0"/>
              </a:spcAft>
            </a:pPr>
            <a:r>
              <a:rPr sz="1350" b="0" i="0">
                <a:solidFill>
                  <a:srgbClr val="1E293B"/>
                </a:solidFill>
                <a:latin typeface="Calibri"/>
              </a:rPr>
              <a:t>selected the best model - LightGBM</a:t>
            </a:r>
          </a:p>
        </p:txBody>
      </p:sp>
      <p:sp>
        <p:nvSpPr>
          <p:cNvPr id="26" name="Oval 25"/>
          <p:cNvSpPr/>
          <p:nvPr/>
        </p:nvSpPr>
        <p:spPr>
          <a:xfrm>
            <a:off x="6400800" y="456285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562856"/>
            <a:ext cx="457200" cy="457200"/>
          </a:xfrm>
          <a:prstGeom prst="rect">
            <a:avLst/>
          </a:prstGeom>
          <a:noFill/>
        </p:spPr>
        <p:txBody>
          <a:bodyPr wrap="square" anchor="ctr" lIns="0" rIns="0" tIns="0" bIns="0">
            <a:spAutoFit/>
          </a:bodyPr>
          <a:lstStyle/>
          <a:p>
            <a:pPr algn="ctr">
              <a:spcBef>
                <a:spcPts val="0"/>
              </a:spcBef>
              <a:spcAft>
                <a:spcPts val="0"/>
              </a:spcAft>
            </a:pPr>
            <a:r>
              <a:rPr sz="1700" b="1" i="0">
                <a:solidFill>
                  <a:srgbClr val="FFFFFF"/>
                </a:solidFill>
                <a:latin typeface="Calibri"/>
              </a:rPr>
              <a:t>✓</a:t>
            </a:r>
          </a:p>
        </p:txBody>
      </p:sp>
      <p:sp>
        <p:nvSpPr>
          <p:cNvPr id="28" name="TextBox 27"/>
          <p:cNvSpPr txBox="1"/>
          <p:nvPr/>
        </p:nvSpPr>
        <p:spPr>
          <a:xfrm>
            <a:off x="7059168" y="4544568"/>
            <a:ext cx="4617720" cy="566928"/>
          </a:xfrm>
          <a:prstGeom prst="rect">
            <a:avLst/>
          </a:prstGeom>
          <a:noFill/>
        </p:spPr>
        <p:txBody>
          <a:bodyPr wrap="square" anchor="ctr" lIns="0" rIns="0" tIns="0" bIns="0">
            <a:spAutoFit/>
          </a:bodyPr>
          <a:lstStyle/>
          <a:p>
            <a:pPr algn="l">
              <a:lnSpc>
                <a:spcPct val="100000"/>
              </a:lnSpc>
              <a:spcBef>
                <a:spcPts val="0"/>
              </a:spcBef>
              <a:spcAft>
                <a:spcPts val="0"/>
              </a:spcAft>
            </a:pPr>
            <a:r>
              <a:rPr sz="1350" b="0" i="0">
                <a:solidFill>
                  <a:srgbClr val="1E293B"/>
                </a:solidFill>
                <a:latin typeface="Calibri"/>
              </a:rPr>
              <a:t>measured its quality on the held-out test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DATA</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04</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457200"/>
            <a:ext cx="10881360" cy="365760"/>
          </a:xfrm>
          <a:prstGeom prst="rect">
            <a:avLst/>
          </a:prstGeom>
          <a:noFill/>
        </p:spPr>
        <p:txBody>
          <a:bodyPr wrap="square" anchor="t" lIns="0" rIns="0" tIns="0" bIns="0">
            <a:spAutoFit/>
          </a:bodyPr>
          <a:lstStyle/>
          <a:p>
            <a:pPr algn="l">
              <a:spcBef>
                <a:spcPts val="0"/>
              </a:spcBef>
              <a:spcAft>
                <a:spcPts val="0"/>
              </a:spcAft>
            </a:pPr>
            <a:r>
              <a:rPr sz="1250" b="1" i="0" spc="160">
                <a:solidFill>
                  <a:srgbClr val="4F46E5"/>
                </a:solidFill>
                <a:latin typeface="Calibri"/>
              </a:rPr>
              <a:t>WHAT ARE WE PREDICTING?</a:t>
            </a:r>
          </a:p>
        </p:txBody>
      </p:sp>
      <p:sp>
        <p:nvSpPr>
          <p:cNvPr id="6" name="TextBox 5"/>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The dataset</a:t>
            </a:r>
          </a:p>
        </p:txBody>
      </p:sp>
      <p:sp>
        <p:nvSpPr>
          <p:cNvPr id="7" name="Rectangle 6"/>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37360"/>
            <a:ext cx="5943600" cy="914400"/>
          </a:xfrm>
          <a:prstGeom prst="rect">
            <a:avLst/>
          </a:prstGeom>
          <a:noFill/>
        </p:spPr>
        <p:txBody>
          <a:bodyPr wrap="square" anchor="t" lIns="0" rIns="0" tIns="0" bIns="0">
            <a:spAutoFit/>
          </a:bodyPr>
          <a:lstStyle/>
          <a:p>
            <a:pPr algn="l">
              <a:lnSpc>
                <a:spcPct val="120000"/>
              </a:lnSpc>
              <a:spcBef>
                <a:spcPts val="0"/>
              </a:spcBef>
              <a:spcAft>
                <a:spcPts val="0"/>
              </a:spcAft>
            </a:pPr>
            <a:r>
              <a:rPr sz="1400" b="0" i="0">
                <a:solidFill>
                  <a:srgbClr val="1E293B"/>
                </a:solidFill>
                <a:latin typeface="Calibri"/>
              </a:rPr>
              <a:t>An open </a:t>
            </a:r>
            <a:r>
              <a:rPr sz="1400" b="1" i="0">
                <a:solidFill>
                  <a:srgbClr val="1E293B"/>
                </a:solidFill>
                <a:latin typeface="Calibri"/>
              </a:rPr>
              <a:t>Kaggle</a:t>
            </a:r>
            <a:r>
              <a:rPr sz="1400" b="0" i="0">
                <a:solidFill>
                  <a:srgbClr val="1E293B"/>
                </a:solidFill>
                <a:latin typeface="Calibri"/>
              </a:rPr>
              <a:t> dataset built from real Ethereum addresses.</a:t>
            </a:r>
          </a:p>
          <a:p>
            <a:pPr algn="l">
              <a:lnSpc>
                <a:spcPct val="120000"/>
              </a:lnSpc>
              <a:spcBef>
                <a:spcPts val="200"/>
              </a:spcBef>
              <a:spcAft>
                <a:spcPts val="0"/>
              </a:spcAft>
            </a:pPr>
            <a:r>
              <a:rPr sz="1400" b="0" i="0">
                <a:solidFill>
                  <a:srgbClr val="1E293B"/>
                </a:solidFill>
                <a:latin typeface="Calibri"/>
              </a:rPr>
              <a:t>One row is an account with a transaction history; </a:t>
            </a:r>
            <a:r>
              <a:rPr sz="1400" b="1" i="0">
                <a:solidFill>
                  <a:srgbClr val="3730A3"/>
                </a:solidFill>
                <a:latin typeface="Calibri"/>
              </a:rPr>
              <a:t>we predict whether it is fraudulent.</a:t>
            </a:r>
          </a:p>
        </p:txBody>
      </p:sp>
      <p:sp>
        <p:nvSpPr>
          <p:cNvPr id="9" name="TextBox 8"/>
          <p:cNvSpPr txBox="1"/>
          <p:nvPr/>
        </p:nvSpPr>
        <p:spPr>
          <a:xfrm>
            <a:off x="868680" y="2606040"/>
            <a:ext cx="2743200" cy="1280160"/>
          </a:xfrm>
          <a:prstGeom prst="rect">
            <a:avLst/>
          </a:prstGeom>
          <a:noFill/>
        </p:spPr>
        <p:txBody>
          <a:bodyPr wrap="square" anchor="t" lIns="0" rIns="0" tIns="0" bIns="0">
            <a:spAutoFit/>
          </a:bodyPr>
          <a:lstStyle/>
          <a:p>
            <a:pPr algn="l">
              <a:lnSpc>
                <a:spcPct val="95000"/>
              </a:lnSpc>
              <a:spcBef>
                <a:spcPts val="0"/>
              </a:spcBef>
              <a:spcAft>
                <a:spcPts val="0"/>
              </a:spcAft>
            </a:pPr>
            <a:r>
              <a:rPr sz="4200" b="1" i="0">
                <a:solidFill>
                  <a:srgbClr val="4F46E5"/>
                </a:solidFill>
                <a:latin typeface="Calibri"/>
              </a:rPr>
              <a:t>9841</a:t>
            </a:r>
          </a:p>
          <a:p>
            <a:pPr algn="l">
              <a:lnSpc>
                <a:spcPct val="100000"/>
              </a:lnSpc>
              <a:spcBef>
                <a:spcPts val="200"/>
              </a:spcBef>
              <a:spcAft>
                <a:spcPts val="0"/>
              </a:spcAft>
            </a:pPr>
            <a:r>
              <a:rPr sz="1300" b="0" i="0">
                <a:solidFill>
                  <a:srgbClr val="64748B"/>
                </a:solidFill>
                <a:latin typeface="Calibri"/>
              </a:rPr>
              <a:t>accounts</a:t>
            </a:r>
          </a:p>
        </p:txBody>
      </p:sp>
      <p:sp>
        <p:nvSpPr>
          <p:cNvPr id="10" name="TextBox 9"/>
          <p:cNvSpPr txBox="1"/>
          <p:nvPr/>
        </p:nvSpPr>
        <p:spPr>
          <a:xfrm>
            <a:off x="868680" y="3566160"/>
            <a:ext cx="2743200" cy="1280160"/>
          </a:xfrm>
          <a:prstGeom prst="rect">
            <a:avLst/>
          </a:prstGeom>
          <a:noFill/>
        </p:spPr>
        <p:txBody>
          <a:bodyPr wrap="square" anchor="t" lIns="0" rIns="0" tIns="0" bIns="0">
            <a:spAutoFit/>
          </a:bodyPr>
          <a:lstStyle/>
          <a:p>
            <a:pPr algn="l">
              <a:lnSpc>
                <a:spcPct val="95000"/>
              </a:lnSpc>
              <a:spcBef>
                <a:spcPts val="0"/>
              </a:spcBef>
              <a:spcAft>
                <a:spcPts val="0"/>
              </a:spcAft>
            </a:pPr>
            <a:r>
              <a:rPr sz="4200" b="1" i="0">
                <a:solidFill>
                  <a:srgbClr val="4F46E5"/>
                </a:solidFill>
                <a:latin typeface="Calibri"/>
              </a:rPr>
              <a:t>50</a:t>
            </a:r>
          </a:p>
          <a:p>
            <a:pPr algn="l">
              <a:lnSpc>
                <a:spcPct val="100000"/>
              </a:lnSpc>
              <a:spcBef>
                <a:spcPts val="200"/>
              </a:spcBef>
              <a:spcAft>
                <a:spcPts val="0"/>
              </a:spcAft>
            </a:pPr>
            <a:r>
              <a:rPr sz="1300" b="0" i="0">
                <a:solidFill>
                  <a:srgbClr val="64748B"/>
                </a:solidFill>
                <a:latin typeface="Calibri"/>
              </a:rPr>
              <a:t>numeric features</a:t>
            </a:r>
          </a:p>
        </p:txBody>
      </p:sp>
      <p:sp>
        <p:nvSpPr>
          <p:cNvPr id="11" name="TextBox 10"/>
          <p:cNvSpPr txBox="1"/>
          <p:nvPr/>
        </p:nvSpPr>
        <p:spPr>
          <a:xfrm>
            <a:off x="868680" y="4526280"/>
            <a:ext cx="4114800" cy="1280160"/>
          </a:xfrm>
          <a:prstGeom prst="rect">
            <a:avLst/>
          </a:prstGeom>
          <a:noFill/>
        </p:spPr>
        <p:txBody>
          <a:bodyPr wrap="square" anchor="t" lIns="0" rIns="0" tIns="0" bIns="0">
            <a:spAutoFit/>
          </a:bodyPr>
          <a:lstStyle/>
          <a:p>
            <a:pPr algn="l">
              <a:lnSpc>
                <a:spcPct val="95000"/>
              </a:lnSpc>
              <a:spcBef>
                <a:spcPts val="0"/>
              </a:spcBef>
              <a:spcAft>
                <a:spcPts val="0"/>
              </a:spcAft>
            </a:pPr>
            <a:r>
              <a:rPr sz="4200" b="1" i="0">
                <a:solidFill>
                  <a:srgbClr val="1E293B"/>
                </a:solidFill>
                <a:latin typeface="Calibri"/>
              </a:rPr>
              <a:t>78 / 22</a:t>
            </a:r>
          </a:p>
          <a:p>
            <a:pPr algn="l">
              <a:lnSpc>
                <a:spcPct val="100000"/>
              </a:lnSpc>
              <a:spcBef>
                <a:spcPts val="200"/>
              </a:spcBef>
              <a:spcAft>
                <a:spcPts val="0"/>
              </a:spcAft>
            </a:pPr>
            <a:r>
              <a:rPr sz="1300" b="0" i="0">
                <a:solidFill>
                  <a:srgbClr val="64748B"/>
                </a:solidFill>
                <a:latin typeface="Calibri"/>
              </a:rPr>
              <a:t>% legitimate / fraudulent</a:t>
            </a:r>
          </a:p>
        </p:txBody>
      </p:sp>
      <p:sp>
        <p:nvSpPr>
          <p:cNvPr id="12" name="Rounded Rectangle 11"/>
          <p:cNvSpPr/>
          <p:nvPr/>
        </p:nvSpPr>
        <p:spPr>
          <a:xfrm>
            <a:off x="6766560" y="2286000"/>
            <a:ext cx="4937760" cy="320040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lass_balance2.png"/>
          <p:cNvPicPr>
            <a:picLocks noChangeAspect="1"/>
          </p:cNvPicPr>
          <p:nvPr/>
        </p:nvPicPr>
        <p:blipFill>
          <a:blip r:embed="rId2"/>
          <a:stretch>
            <a:fillRect/>
          </a:stretch>
        </p:blipFill>
        <p:spPr>
          <a:xfrm>
            <a:off x="7626990" y="2450592"/>
            <a:ext cx="3216900" cy="2871216"/>
          </a:xfrm>
          <a:prstGeom prst="rect">
            <a:avLst/>
          </a:prstGeom>
        </p:spPr>
      </p:pic>
      <p:sp>
        <p:nvSpPr>
          <p:cNvPr id="14" name="TextBox 13"/>
          <p:cNvSpPr txBox="1"/>
          <p:nvPr/>
        </p:nvSpPr>
        <p:spPr>
          <a:xfrm>
            <a:off x="868680" y="5486400"/>
            <a:ext cx="4572000" cy="365760"/>
          </a:xfrm>
          <a:prstGeom prst="rect">
            <a:avLst/>
          </a:prstGeom>
          <a:noFill/>
        </p:spPr>
        <p:txBody>
          <a:bodyPr wrap="square" anchor="t" lIns="0" rIns="0" tIns="0" bIns="0">
            <a:spAutoFit/>
          </a:bodyPr>
          <a:lstStyle/>
          <a:p>
            <a:pPr algn="l">
              <a:spcBef>
                <a:spcPts val="0"/>
              </a:spcBef>
              <a:spcAft>
                <a:spcPts val="0"/>
              </a:spcAft>
            </a:pPr>
            <a:r>
              <a:rPr sz="1250" b="0" i="0">
                <a:solidFill>
                  <a:srgbClr val="64748B"/>
                </a:solidFill>
                <a:latin typeface="Calibri"/>
              </a:rPr>
              <a:t>50 features in four groups:</a:t>
            </a:r>
          </a:p>
        </p:txBody>
      </p:sp>
      <p:sp>
        <p:nvSpPr>
          <p:cNvPr id="15" name="Rounded Rectangle 14"/>
          <p:cNvSpPr/>
          <p:nvPr/>
        </p:nvSpPr>
        <p:spPr>
          <a:xfrm>
            <a:off x="868680" y="5897880"/>
            <a:ext cx="2615184" cy="566928"/>
          </a:xfrm>
          <a:prstGeom prst="roundRect">
            <a:avLst>
              <a:gd name="adj" fmla="val 16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c_counter.png"/>
          <p:cNvPicPr>
            <a:picLocks noChangeAspect="1"/>
          </p:cNvPicPr>
          <p:nvPr/>
        </p:nvPicPr>
        <p:blipFill>
          <a:blip r:embed="rId3"/>
          <a:stretch>
            <a:fillRect/>
          </a:stretch>
        </p:blipFill>
        <p:spPr>
          <a:xfrm>
            <a:off x="1014984" y="5998464"/>
            <a:ext cx="365760" cy="365760"/>
          </a:xfrm>
          <a:prstGeom prst="rect">
            <a:avLst/>
          </a:prstGeom>
        </p:spPr>
      </p:pic>
      <p:sp>
        <p:nvSpPr>
          <p:cNvPr id="17" name="TextBox 16"/>
          <p:cNvSpPr txBox="1"/>
          <p:nvPr/>
        </p:nvSpPr>
        <p:spPr>
          <a:xfrm>
            <a:off x="1472184" y="5897880"/>
            <a:ext cx="1938528" cy="566928"/>
          </a:xfrm>
          <a:prstGeom prst="rect">
            <a:avLst/>
          </a:prstGeom>
          <a:noFill/>
        </p:spPr>
        <p:txBody>
          <a:bodyPr wrap="square" anchor="ctr" lIns="0" rIns="0" tIns="0" bIns="0">
            <a:spAutoFit/>
          </a:bodyPr>
          <a:lstStyle/>
          <a:p>
            <a:pPr algn="l">
              <a:lnSpc>
                <a:spcPct val="100000"/>
              </a:lnSpc>
              <a:spcBef>
                <a:spcPts val="0"/>
              </a:spcBef>
              <a:spcAft>
                <a:spcPts val="0"/>
              </a:spcAft>
            </a:pPr>
            <a:r>
              <a:rPr sz="1250" b="1" i="0">
                <a:solidFill>
                  <a:srgbClr val="1E293B"/>
                </a:solidFill>
                <a:latin typeface="Calibri"/>
              </a:rPr>
              <a:t>Counters</a:t>
            </a:r>
          </a:p>
        </p:txBody>
      </p:sp>
      <p:sp>
        <p:nvSpPr>
          <p:cNvPr id="18" name="Rounded Rectangle 17"/>
          <p:cNvSpPr/>
          <p:nvPr/>
        </p:nvSpPr>
        <p:spPr>
          <a:xfrm>
            <a:off x="3630168" y="5897880"/>
            <a:ext cx="2615184" cy="566928"/>
          </a:xfrm>
          <a:prstGeom prst="roundRect">
            <a:avLst>
              <a:gd name="adj" fmla="val 16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clock.png"/>
          <p:cNvPicPr>
            <a:picLocks noChangeAspect="1"/>
          </p:cNvPicPr>
          <p:nvPr/>
        </p:nvPicPr>
        <p:blipFill>
          <a:blip r:embed="rId4"/>
          <a:stretch>
            <a:fillRect/>
          </a:stretch>
        </p:blipFill>
        <p:spPr>
          <a:xfrm>
            <a:off x="3776472" y="5998464"/>
            <a:ext cx="365760" cy="365760"/>
          </a:xfrm>
          <a:prstGeom prst="rect">
            <a:avLst/>
          </a:prstGeom>
        </p:spPr>
      </p:pic>
      <p:sp>
        <p:nvSpPr>
          <p:cNvPr id="20" name="TextBox 19"/>
          <p:cNvSpPr txBox="1"/>
          <p:nvPr/>
        </p:nvSpPr>
        <p:spPr>
          <a:xfrm>
            <a:off x="4233672" y="5897880"/>
            <a:ext cx="1938528" cy="566928"/>
          </a:xfrm>
          <a:prstGeom prst="rect">
            <a:avLst/>
          </a:prstGeom>
          <a:noFill/>
        </p:spPr>
        <p:txBody>
          <a:bodyPr wrap="square" anchor="ctr" lIns="0" rIns="0" tIns="0" bIns="0">
            <a:spAutoFit/>
          </a:bodyPr>
          <a:lstStyle/>
          <a:p>
            <a:pPr algn="l">
              <a:lnSpc>
                <a:spcPct val="100000"/>
              </a:lnSpc>
              <a:spcBef>
                <a:spcPts val="0"/>
              </a:spcBef>
              <a:spcAft>
                <a:spcPts val="0"/>
              </a:spcAft>
            </a:pPr>
            <a:r>
              <a:rPr sz="1250" b="1" i="0">
                <a:solidFill>
                  <a:srgbClr val="1E293B"/>
                </a:solidFill>
                <a:latin typeface="Calibri"/>
              </a:rPr>
              <a:t>Time-based</a:t>
            </a:r>
          </a:p>
        </p:txBody>
      </p:sp>
      <p:sp>
        <p:nvSpPr>
          <p:cNvPr id="21" name="Rounded Rectangle 20"/>
          <p:cNvSpPr/>
          <p:nvPr/>
        </p:nvSpPr>
        <p:spPr>
          <a:xfrm>
            <a:off x="6391656" y="5897880"/>
            <a:ext cx="2615184" cy="566928"/>
          </a:xfrm>
          <a:prstGeom prst="roundRect">
            <a:avLst>
              <a:gd name="adj" fmla="val 16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_ether.png"/>
          <p:cNvPicPr>
            <a:picLocks noChangeAspect="1"/>
          </p:cNvPicPr>
          <p:nvPr/>
        </p:nvPicPr>
        <p:blipFill>
          <a:blip r:embed="rId5"/>
          <a:stretch>
            <a:fillRect/>
          </a:stretch>
        </p:blipFill>
        <p:spPr>
          <a:xfrm>
            <a:off x="6537960" y="5998464"/>
            <a:ext cx="365760" cy="365760"/>
          </a:xfrm>
          <a:prstGeom prst="rect">
            <a:avLst/>
          </a:prstGeom>
        </p:spPr>
      </p:pic>
      <p:sp>
        <p:nvSpPr>
          <p:cNvPr id="23" name="TextBox 22"/>
          <p:cNvSpPr txBox="1"/>
          <p:nvPr/>
        </p:nvSpPr>
        <p:spPr>
          <a:xfrm>
            <a:off x="6995160" y="5897880"/>
            <a:ext cx="1938528" cy="566928"/>
          </a:xfrm>
          <a:prstGeom prst="rect">
            <a:avLst/>
          </a:prstGeom>
          <a:noFill/>
        </p:spPr>
        <p:txBody>
          <a:bodyPr wrap="square" anchor="ctr" lIns="0" rIns="0" tIns="0" bIns="0">
            <a:spAutoFit/>
          </a:bodyPr>
          <a:lstStyle/>
          <a:p>
            <a:pPr algn="l">
              <a:lnSpc>
                <a:spcPct val="100000"/>
              </a:lnSpc>
              <a:spcBef>
                <a:spcPts val="0"/>
              </a:spcBef>
              <a:spcAft>
                <a:spcPts val="0"/>
              </a:spcAft>
            </a:pPr>
            <a:r>
              <a:rPr sz="1250" b="1" i="0">
                <a:solidFill>
                  <a:srgbClr val="1E293B"/>
                </a:solidFill>
                <a:latin typeface="Calibri"/>
              </a:rPr>
              <a:t>Ether volumes</a:t>
            </a:r>
          </a:p>
        </p:txBody>
      </p:sp>
      <p:sp>
        <p:nvSpPr>
          <p:cNvPr id="24" name="Rounded Rectangle 23"/>
          <p:cNvSpPr/>
          <p:nvPr/>
        </p:nvSpPr>
        <p:spPr>
          <a:xfrm>
            <a:off x="9153144" y="5897880"/>
            <a:ext cx="2615184" cy="566928"/>
          </a:xfrm>
          <a:prstGeom prst="roundRect">
            <a:avLst>
              <a:gd name="adj" fmla="val 16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_token.png"/>
          <p:cNvPicPr>
            <a:picLocks noChangeAspect="1"/>
          </p:cNvPicPr>
          <p:nvPr/>
        </p:nvPicPr>
        <p:blipFill>
          <a:blip r:embed="rId6"/>
          <a:stretch>
            <a:fillRect/>
          </a:stretch>
        </p:blipFill>
        <p:spPr>
          <a:xfrm>
            <a:off x="9299448" y="5998464"/>
            <a:ext cx="365760" cy="365760"/>
          </a:xfrm>
          <a:prstGeom prst="rect">
            <a:avLst/>
          </a:prstGeom>
        </p:spPr>
      </p:pic>
      <p:sp>
        <p:nvSpPr>
          <p:cNvPr id="26" name="TextBox 25"/>
          <p:cNvSpPr txBox="1"/>
          <p:nvPr/>
        </p:nvSpPr>
        <p:spPr>
          <a:xfrm>
            <a:off x="9756648" y="5897880"/>
            <a:ext cx="1938528" cy="566928"/>
          </a:xfrm>
          <a:prstGeom prst="rect">
            <a:avLst/>
          </a:prstGeom>
          <a:noFill/>
        </p:spPr>
        <p:txBody>
          <a:bodyPr wrap="square" anchor="ctr" lIns="0" rIns="0" tIns="0" bIns="0">
            <a:spAutoFit/>
          </a:bodyPr>
          <a:lstStyle/>
          <a:p>
            <a:pPr algn="l">
              <a:lnSpc>
                <a:spcPct val="100000"/>
              </a:lnSpc>
              <a:spcBef>
                <a:spcPts val="0"/>
              </a:spcBef>
              <a:spcAft>
                <a:spcPts val="0"/>
              </a:spcAft>
            </a:pPr>
            <a:r>
              <a:rPr sz="1250" b="1" i="0">
                <a:solidFill>
                  <a:srgbClr val="1E293B"/>
                </a:solidFill>
                <a:latin typeface="Calibri"/>
              </a:rPr>
              <a:t>ERC20 tokens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DATA ANALYSIS</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05</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457200"/>
            <a:ext cx="10881360" cy="365760"/>
          </a:xfrm>
          <a:prstGeom prst="rect">
            <a:avLst/>
          </a:prstGeom>
          <a:noFill/>
        </p:spPr>
        <p:txBody>
          <a:bodyPr wrap="square" anchor="t" lIns="0" rIns="0" tIns="0" bIns="0">
            <a:spAutoFit/>
          </a:bodyPr>
          <a:lstStyle/>
          <a:p>
            <a:pPr algn="l">
              <a:spcBef>
                <a:spcPts val="0"/>
              </a:spcBef>
              <a:spcAft>
                <a:spcPts val="0"/>
              </a:spcAft>
            </a:pPr>
            <a:r>
              <a:rPr sz="1250" b="1" i="0" spc="160">
                <a:solidFill>
                  <a:srgbClr val="4F46E5"/>
                </a:solidFill>
                <a:latin typeface="Calibri"/>
              </a:rPr>
              <a:t>HOW THE FEATURES RELATE</a:t>
            </a:r>
          </a:p>
        </p:txBody>
      </p:sp>
      <p:sp>
        <p:nvSpPr>
          <p:cNvPr id="6" name="TextBox 5"/>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Exploratory analysis</a:t>
            </a:r>
          </a:p>
        </p:txBody>
      </p:sp>
      <p:sp>
        <p:nvSpPr>
          <p:cNvPr id="7" name="Rectangle 6"/>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2011680"/>
            <a:ext cx="5212080" cy="114300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011680"/>
            <a:ext cx="4754880" cy="1143000"/>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1E293B"/>
                </a:solidFill>
                <a:latin typeface="Calibri"/>
              </a:rPr>
              <a:t>Features cluster by meaning</a:t>
            </a:r>
          </a:p>
          <a:p>
            <a:pPr algn="l">
              <a:lnSpc>
                <a:spcPct val="100000"/>
              </a:lnSpc>
              <a:spcBef>
                <a:spcPts val="300"/>
              </a:spcBef>
              <a:spcAft>
                <a:spcPts val="0"/>
              </a:spcAft>
            </a:pPr>
            <a:r>
              <a:rPr sz="1300" b="1" i="0">
                <a:solidFill>
                  <a:srgbClr val="4F46E5"/>
                </a:solidFill>
                <a:latin typeface="Calibri"/>
              </a:rPr>
              <a:t>→ volumes · counters · ERC20</a:t>
            </a:r>
          </a:p>
        </p:txBody>
      </p:sp>
      <p:sp>
        <p:nvSpPr>
          <p:cNvPr id="10" name="Rounded Rectangle 9"/>
          <p:cNvSpPr/>
          <p:nvPr/>
        </p:nvSpPr>
        <p:spPr>
          <a:xfrm>
            <a:off x="868680" y="3337560"/>
            <a:ext cx="5212080" cy="114300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3337560"/>
            <a:ext cx="4754880" cy="1143000"/>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1E293B"/>
                </a:solidFill>
                <a:latin typeface="Calibri"/>
              </a:rPr>
              <a:t>21 pairs of identical columns</a:t>
            </a:r>
          </a:p>
          <a:p>
            <a:pPr algn="l">
              <a:lnSpc>
                <a:spcPct val="100000"/>
              </a:lnSpc>
              <a:spcBef>
                <a:spcPts val="300"/>
              </a:spcBef>
              <a:spcAft>
                <a:spcPts val="0"/>
              </a:spcAft>
            </a:pPr>
            <a:r>
              <a:rPr sz="1300" b="1" i="0">
                <a:solidFill>
                  <a:srgbClr val="4F46E5"/>
                </a:solidFill>
                <a:latin typeface="Calibri"/>
              </a:rPr>
              <a:t>→ all-zero ERC20 duplicates -&gt; kept (harmless)</a:t>
            </a:r>
          </a:p>
        </p:txBody>
      </p:sp>
      <p:sp>
        <p:nvSpPr>
          <p:cNvPr id="12" name="Rounded Rectangle 11"/>
          <p:cNvSpPr/>
          <p:nvPr/>
        </p:nvSpPr>
        <p:spPr>
          <a:xfrm>
            <a:off x="868680" y="4663440"/>
            <a:ext cx="5212080" cy="114300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6424" y="4663440"/>
            <a:ext cx="4754880" cy="1143000"/>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1E293B"/>
                </a:solidFill>
                <a:latin typeface="Calibri"/>
              </a:rPr>
              <a:t>Correlation with the label &lt; 0.95</a:t>
            </a:r>
          </a:p>
          <a:p>
            <a:pPr algn="l">
              <a:lnSpc>
                <a:spcPct val="100000"/>
              </a:lnSpc>
              <a:spcBef>
                <a:spcPts val="300"/>
              </a:spcBef>
              <a:spcAft>
                <a:spcPts val="0"/>
              </a:spcAft>
            </a:pPr>
            <a:r>
              <a:rPr sz="1300" b="1" i="0">
                <a:solidFill>
                  <a:srgbClr val="4F46E5"/>
                </a:solidFill>
                <a:latin typeface="Calibri"/>
              </a:rPr>
              <a:t>→ no single feature gives the class away</a:t>
            </a:r>
          </a:p>
        </p:txBody>
      </p:sp>
      <p:sp>
        <p:nvSpPr>
          <p:cNvPr id="14" name="Rounded Rectangle 13"/>
          <p:cNvSpPr/>
          <p:nvPr/>
        </p:nvSpPr>
        <p:spPr>
          <a:xfrm>
            <a:off x="6400800" y="1874519"/>
            <a:ext cx="5303520" cy="443484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real_corr.png"/>
          <p:cNvPicPr>
            <a:picLocks noChangeAspect="1"/>
          </p:cNvPicPr>
          <p:nvPr/>
        </p:nvPicPr>
        <p:blipFill>
          <a:blip r:embed="rId2"/>
          <a:stretch>
            <a:fillRect/>
          </a:stretch>
        </p:blipFill>
        <p:spPr>
          <a:xfrm>
            <a:off x="7004067" y="2039111"/>
            <a:ext cx="4096985" cy="410565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DATA ANALYSIS</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06</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457200"/>
            <a:ext cx="10881360" cy="365760"/>
          </a:xfrm>
          <a:prstGeom prst="rect">
            <a:avLst/>
          </a:prstGeom>
          <a:noFill/>
        </p:spPr>
        <p:txBody>
          <a:bodyPr wrap="square" anchor="t" lIns="0" rIns="0" tIns="0" bIns="0">
            <a:spAutoFit/>
          </a:bodyPr>
          <a:lstStyle/>
          <a:p>
            <a:pPr algn="l">
              <a:spcBef>
                <a:spcPts val="0"/>
              </a:spcBef>
              <a:spcAft>
                <a:spcPts val="0"/>
              </a:spcAft>
            </a:pPr>
            <a:r>
              <a:rPr sz="1250" b="1" i="0" spc="160">
                <a:solidFill>
                  <a:srgbClr val="4F46E5"/>
                </a:solidFill>
                <a:latin typeface="Calibri"/>
              </a:rPr>
              <a:t>WHAT THE ANALYSIS SHOWED</a:t>
            </a:r>
          </a:p>
        </p:txBody>
      </p:sp>
      <p:sp>
        <p:nvSpPr>
          <p:cNvPr id="6" name="TextBox 5"/>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Fraudsters behave differently</a:t>
            </a:r>
          </a:p>
        </p:txBody>
      </p:sp>
      <p:sp>
        <p:nvSpPr>
          <p:cNvPr id="7" name="Rectangle 6"/>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868680" y="2011680"/>
          <a:ext cx="5212078" cy="2743200"/>
        </p:xfrm>
        <a:graphic>
          <a:graphicData uri="http://schemas.openxmlformats.org/drawingml/2006/table">
            <a:tbl>
              <a:tblPr>
                <a:tableStyleId>{5C22544A-7EE6-4342-B048-85BDC9FD1C3A}</a:tableStyleId>
              </a:tblPr>
              <a:tblGrid>
                <a:gridCol w="2918764"/>
                <a:gridCol w="1146657"/>
                <a:gridCol w="1146657"/>
              </a:tblGrid>
              <a:tr h="548640">
                <a:tc>
                  <a:txBody>
                    <a:bodyPr wrap="square"/>
                    <a:lstStyle/>
                    <a:p>
                      <a:pPr algn="l"/>
                      <a:r>
                        <a:rPr sz="1250" b="1">
                          <a:solidFill>
                            <a:srgbClr val="FFFFFF"/>
                          </a:solidFill>
                          <a:latin typeface="Calibri"/>
                        </a:rPr>
                        <a:t>Feature median</a:t>
                      </a:r>
                    </a:p>
                  </a:txBody>
                  <a:tcPr marL="109728" marR="73152" marT="18288" marB="18288" anchor="ctr">
                    <a:solidFill>
                      <a:srgbClr val="4F46E5"/>
                    </a:solidFill>
                  </a:tcPr>
                </a:tc>
                <a:tc>
                  <a:txBody>
                    <a:bodyPr wrap="square"/>
                    <a:lstStyle/>
                    <a:p>
                      <a:pPr algn="ctr"/>
                      <a:r>
                        <a:rPr sz="1250" b="1">
                          <a:solidFill>
                            <a:srgbClr val="FFFFFF"/>
                          </a:solidFill>
                          <a:latin typeface="Calibri"/>
                        </a:rPr>
                        <a:t>Legit</a:t>
                      </a:r>
                    </a:p>
                  </a:txBody>
                  <a:tcPr marL="109728" marR="73152" marT="18288" marB="18288" anchor="ctr">
                    <a:solidFill>
                      <a:srgbClr val="4F46E5"/>
                    </a:solidFill>
                  </a:tcPr>
                </a:tc>
                <a:tc>
                  <a:txBody>
                    <a:bodyPr wrap="square"/>
                    <a:lstStyle/>
                    <a:p>
                      <a:pPr algn="ctr"/>
                      <a:r>
                        <a:rPr sz="1250" b="1">
                          <a:solidFill>
                            <a:srgbClr val="FFFFFF"/>
                          </a:solidFill>
                          <a:latin typeface="Calibri"/>
                        </a:rPr>
                        <a:t>Fraud</a:t>
                      </a:r>
                    </a:p>
                  </a:txBody>
                  <a:tcPr marL="109728" marR="73152" marT="18288" marB="18288" anchor="ctr">
                    <a:solidFill>
                      <a:srgbClr val="4F46E5"/>
                    </a:solidFill>
                  </a:tcPr>
                </a:tc>
              </a:tr>
              <a:tr h="548640">
                <a:tc>
                  <a:txBody>
                    <a:bodyPr wrap="square"/>
                    <a:lstStyle/>
                    <a:p>
                      <a:pPr algn="l"/>
                      <a:r>
                        <a:rPr sz="1250" b="0">
                          <a:solidFill>
                            <a:srgbClr val="1E293B"/>
                          </a:solidFill>
                          <a:latin typeface="Calibri"/>
                        </a:rPr>
                        <a:t>Lifetime of activity, days</a:t>
                      </a:r>
                    </a:p>
                  </a:txBody>
                  <a:tcPr marL="109728" marR="73152" marT="18288" marB="18288" anchor="ctr">
                    <a:solidFill>
                      <a:srgbClr val="FFFFFF"/>
                    </a:solidFill>
                  </a:tcPr>
                </a:tc>
                <a:tc>
                  <a:txBody>
                    <a:bodyPr wrap="square"/>
                    <a:lstStyle/>
                    <a:p>
                      <a:pPr algn="ctr"/>
                      <a:r>
                        <a:rPr sz="1250" b="0">
                          <a:solidFill>
                            <a:srgbClr val="1E293B"/>
                          </a:solidFill>
                          <a:latin typeface="Calibri"/>
                        </a:rPr>
                        <a:t>81</a:t>
                      </a:r>
                    </a:p>
                  </a:txBody>
                  <a:tcPr marL="109728" marR="73152" marT="18288" marB="18288" anchor="ctr">
                    <a:solidFill>
                      <a:srgbClr val="FFFFFF"/>
                    </a:solidFill>
                  </a:tcPr>
                </a:tc>
                <a:tc>
                  <a:txBody>
                    <a:bodyPr wrap="square"/>
                    <a:lstStyle/>
                    <a:p>
                      <a:pPr algn="ctr"/>
                      <a:r>
                        <a:rPr sz="1250" b="0">
                          <a:solidFill>
                            <a:srgbClr val="1E293B"/>
                          </a:solidFill>
                          <a:latin typeface="Calibri"/>
                        </a:rPr>
                        <a:t>5</a:t>
                      </a:r>
                    </a:p>
                  </a:txBody>
                  <a:tcPr marL="109728" marR="73152" marT="18288" marB="18288" anchor="ctr">
                    <a:solidFill>
                      <a:srgbClr val="FFFFFF"/>
                    </a:solidFill>
                  </a:tcPr>
                </a:tc>
              </a:tr>
              <a:tr h="548640">
                <a:tc>
                  <a:txBody>
                    <a:bodyPr wrap="square"/>
                    <a:lstStyle/>
                    <a:p>
                      <a:pPr algn="l"/>
                      <a:r>
                        <a:rPr sz="1250" b="0">
                          <a:solidFill>
                            <a:srgbClr val="1E293B"/>
                          </a:solidFill>
                          <a:latin typeface="Calibri"/>
                        </a:rPr>
                        <a:t>Total transactions</a:t>
                      </a:r>
                    </a:p>
                  </a:txBody>
                  <a:tcPr marL="109728" marR="73152" marT="18288" marB="18288" anchor="ctr">
                    <a:solidFill>
                      <a:srgbClr val="FFFFFF"/>
                    </a:solidFill>
                  </a:tcPr>
                </a:tc>
                <a:tc>
                  <a:txBody>
                    <a:bodyPr wrap="square"/>
                    <a:lstStyle/>
                    <a:p>
                      <a:pPr algn="ctr"/>
                      <a:r>
                        <a:rPr sz="1250" b="0">
                          <a:solidFill>
                            <a:srgbClr val="1E293B"/>
                          </a:solidFill>
                          <a:latin typeface="Calibri"/>
                        </a:rPr>
                        <a:t>11</a:t>
                      </a:r>
                    </a:p>
                  </a:txBody>
                  <a:tcPr marL="109728" marR="73152" marT="18288" marB="18288" anchor="ctr">
                    <a:solidFill>
                      <a:srgbClr val="FFFFFF"/>
                    </a:solidFill>
                  </a:tcPr>
                </a:tc>
                <a:tc>
                  <a:txBody>
                    <a:bodyPr wrap="square"/>
                    <a:lstStyle/>
                    <a:p>
                      <a:pPr algn="ctr"/>
                      <a:r>
                        <a:rPr sz="1250" b="0">
                          <a:solidFill>
                            <a:srgbClr val="1E293B"/>
                          </a:solidFill>
                          <a:latin typeface="Calibri"/>
                        </a:rPr>
                        <a:t>5</a:t>
                      </a:r>
                    </a:p>
                  </a:txBody>
                  <a:tcPr marL="109728" marR="73152" marT="18288" marB="18288" anchor="ctr">
                    <a:solidFill>
                      <a:srgbClr val="FFFFFF"/>
                    </a:solidFill>
                  </a:tcPr>
                </a:tc>
              </a:tr>
              <a:tr h="548640">
                <a:tc>
                  <a:txBody>
                    <a:bodyPr wrap="square"/>
                    <a:lstStyle/>
                    <a:p>
                      <a:pPr algn="l"/>
                      <a:r>
                        <a:rPr sz="1250" b="0">
                          <a:solidFill>
                            <a:srgbClr val="1E293B"/>
                          </a:solidFill>
                          <a:latin typeface="Calibri"/>
                        </a:rPr>
                        <a:t>Unique recipients</a:t>
                      </a:r>
                    </a:p>
                  </a:txBody>
                  <a:tcPr marL="109728" marR="73152" marT="18288" marB="18288" anchor="ctr">
                    <a:solidFill>
                      <a:srgbClr val="FFFFFF"/>
                    </a:solidFill>
                  </a:tcPr>
                </a:tc>
                <a:tc>
                  <a:txBody>
                    <a:bodyPr wrap="square"/>
                    <a:lstStyle/>
                    <a:p>
                      <a:pPr algn="ctr"/>
                      <a:r>
                        <a:rPr sz="1250" b="0">
                          <a:solidFill>
                            <a:srgbClr val="1E293B"/>
                          </a:solidFill>
                          <a:latin typeface="Calibri"/>
                        </a:rPr>
                        <a:t>2</a:t>
                      </a:r>
                    </a:p>
                  </a:txBody>
                  <a:tcPr marL="109728" marR="73152" marT="18288" marB="18288" anchor="ctr">
                    <a:solidFill>
                      <a:srgbClr val="FFFFFF"/>
                    </a:solidFill>
                  </a:tcPr>
                </a:tc>
                <a:tc>
                  <a:txBody>
                    <a:bodyPr wrap="square"/>
                    <a:lstStyle/>
                    <a:p>
                      <a:pPr algn="ctr"/>
                      <a:r>
                        <a:rPr sz="1250" b="0">
                          <a:solidFill>
                            <a:srgbClr val="1E293B"/>
                          </a:solidFill>
                          <a:latin typeface="Calibri"/>
                        </a:rPr>
                        <a:t>1</a:t>
                      </a:r>
                    </a:p>
                  </a:txBody>
                  <a:tcPr marL="109728" marR="73152" marT="18288" marB="18288" anchor="ctr">
                    <a:solidFill>
                      <a:srgbClr val="FFFFFF"/>
                    </a:solidFill>
                  </a:tcPr>
                </a:tc>
              </a:tr>
              <a:tr h="548640">
                <a:tc>
                  <a:txBody>
                    <a:bodyPr wrap="square"/>
                    <a:lstStyle/>
                    <a:p>
                      <a:pPr algn="l"/>
                      <a:r>
                        <a:rPr sz="1250" b="0">
                          <a:solidFill>
                            <a:srgbClr val="1E293B"/>
                          </a:solidFill>
                          <a:latin typeface="Calibri"/>
                        </a:rPr>
                        <a:t>Ether received</a:t>
                      </a:r>
                    </a:p>
                  </a:txBody>
                  <a:tcPr marL="109728" marR="73152" marT="18288" marB="18288" anchor="ctr">
                    <a:solidFill>
                      <a:srgbClr val="FFFFFF"/>
                    </a:solidFill>
                  </a:tcPr>
                </a:tc>
                <a:tc>
                  <a:txBody>
                    <a:bodyPr wrap="square"/>
                    <a:lstStyle/>
                    <a:p>
                      <a:pPr algn="ctr"/>
                      <a:r>
                        <a:rPr sz="1250" b="0">
                          <a:solidFill>
                            <a:srgbClr val="1E293B"/>
                          </a:solidFill>
                          <a:latin typeface="Calibri"/>
                        </a:rPr>
                        <a:t>71.7</a:t>
                      </a:r>
                    </a:p>
                  </a:txBody>
                  <a:tcPr marL="109728" marR="73152" marT="18288" marB="18288" anchor="ctr">
                    <a:solidFill>
                      <a:srgbClr val="FFFFFF"/>
                    </a:solidFill>
                  </a:tcPr>
                </a:tc>
                <a:tc>
                  <a:txBody>
                    <a:bodyPr wrap="square"/>
                    <a:lstStyle/>
                    <a:p>
                      <a:pPr algn="ctr"/>
                      <a:r>
                        <a:rPr sz="1250" b="0">
                          <a:solidFill>
                            <a:srgbClr val="1E293B"/>
                          </a:solidFill>
                          <a:latin typeface="Calibri"/>
                        </a:rPr>
                        <a:t>1.7</a:t>
                      </a:r>
                    </a:p>
                  </a:txBody>
                  <a:tcPr marL="109728" marR="73152" marT="18288" marB="18288" anchor="ctr">
                    <a:solidFill>
                      <a:srgbClr val="FFFFFF"/>
                    </a:solidFill>
                  </a:tcPr>
                </a:tc>
              </a:tr>
            </a:tbl>
          </a:graphicData>
        </a:graphic>
      </p:graphicFrame>
      <p:sp>
        <p:nvSpPr>
          <p:cNvPr id="9" name="TextBox 8"/>
          <p:cNvSpPr txBox="1"/>
          <p:nvPr/>
        </p:nvSpPr>
        <p:spPr>
          <a:xfrm>
            <a:off x="868680" y="5029200"/>
            <a:ext cx="5212080" cy="1097280"/>
          </a:xfrm>
          <a:prstGeom prst="rect">
            <a:avLst/>
          </a:prstGeom>
          <a:noFill/>
        </p:spPr>
        <p:txBody>
          <a:bodyPr wrap="square" anchor="t" lIns="0" rIns="0" tIns="0" bIns="0">
            <a:spAutoFit/>
          </a:bodyPr>
          <a:lstStyle/>
          <a:p>
            <a:pPr algn="l">
              <a:lnSpc>
                <a:spcPct val="110000"/>
              </a:lnSpc>
              <a:spcBef>
                <a:spcPts val="0"/>
              </a:spcBef>
              <a:spcAft>
                <a:spcPts val="0"/>
              </a:spcAft>
            </a:pPr>
            <a:r>
              <a:rPr sz="1300" b="0" i="0">
                <a:solidFill>
                  <a:srgbClr val="1E293B"/>
                </a:solidFill>
                <a:latin typeface="Calibri"/>
              </a:rPr>
              <a:t>Shorter lives, fewer operations, </a:t>
            </a:r>
            <a:r>
              <a:rPr sz="1300" b="1" i="0">
                <a:solidFill>
                  <a:srgbClr val="3730A3"/>
                </a:solidFill>
                <a:latin typeface="Calibri"/>
              </a:rPr>
              <a:t>a narrower circle of addresses.</a:t>
            </a:r>
          </a:p>
        </p:txBody>
      </p:sp>
      <p:sp>
        <p:nvSpPr>
          <p:cNvPr id="10" name="Rounded Rectangle 9"/>
          <p:cNvSpPr/>
          <p:nvPr/>
        </p:nvSpPr>
        <p:spPr>
          <a:xfrm>
            <a:off x="6400800" y="1874519"/>
            <a:ext cx="5303520" cy="448056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raud_grid.png"/>
          <p:cNvPicPr>
            <a:picLocks noChangeAspect="1"/>
          </p:cNvPicPr>
          <p:nvPr/>
        </p:nvPicPr>
        <p:blipFill>
          <a:blip r:embed="rId2"/>
          <a:stretch>
            <a:fillRect/>
          </a:stretch>
        </p:blipFill>
        <p:spPr>
          <a:xfrm>
            <a:off x="6565392" y="2093133"/>
            <a:ext cx="4974336" cy="404333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CORRECTNESS</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07</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457200"/>
            <a:ext cx="10881360" cy="365760"/>
          </a:xfrm>
          <a:prstGeom prst="rect">
            <a:avLst/>
          </a:prstGeom>
          <a:noFill/>
        </p:spPr>
        <p:txBody>
          <a:bodyPr wrap="square" anchor="t" lIns="0" rIns="0" tIns="0" bIns="0">
            <a:spAutoFit/>
          </a:bodyPr>
          <a:lstStyle/>
          <a:p>
            <a:pPr algn="l">
              <a:spcBef>
                <a:spcPts val="0"/>
              </a:spcBef>
              <a:spcAft>
                <a:spcPts val="0"/>
              </a:spcAft>
            </a:pPr>
            <a:r>
              <a:rPr sz="1250" b="1" i="0" spc="160">
                <a:solidFill>
                  <a:srgbClr val="4F46E5"/>
                </a:solidFill>
                <a:latin typeface="Calibri"/>
              </a:rPr>
              <a:t>CAN THE METRICS BE TRUSTED?</a:t>
            </a:r>
          </a:p>
        </p:txBody>
      </p:sp>
      <p:sp>
        <p:nvSpPr>
          <p:cNvPr id="6" name="TextBox 5"/>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Duplicates and data leakage</a:t>
            </a:r>
          </a:p>
        </p:txBody>
      </p:sp>
      <p:sp>
        <p:nvSpPr>
          <p:cNvPr id="7" name="Rectangle 6"/>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2377440" cy="1280160"/>
          </a:xfrm>
          <a:prstGeom prst="rect">
            <a:avLst/>
          </a:prstGeom>
          <a:noFill/>
        </p:spPr>
        <p:txBody>
          <a:bodyPr wrap="square" anchor="t" lIns="0" rIns="0" tIns="0" bIns="0">
            <a:spAutoFit/>
          </a:bodyPr>
          <a:lstStyle/>
          <a:p>
            <a:pPr algn="l">
              <a:lnSpc>
                <a:spcPct val="95000"/>
              </a:lnSpc>
              <a:spcBef>
                <a:spcPts val="0"/>
              </a:spcBef>
              <a:spcAft>
                <a:spcPts val="0"/>
              </a:spcAft>
            </a:pPr>
            <a:r>
              <a:rPr sz="4200" b="1" i="0">
                <a:solidFill>
                  <a:srgbClr val="4F46E5"/>
                </a:solidFill>
                <a:latin typeface="Calibri"/>
              </a:rPr>
              <a:t>574</a:t>
            </a:r>
          </a:p>
          <a:p>
            <a:pPr algn="l">
              <a:lnSpc>
                <a:spcPct val="100000"/>
              </a:lnSpc>
              <a:spcBef>
                <a:spcPts val="200"/>
              </a:spcBef>
              <a:spcAft>
                <a:spcPts val="0"/>
              </a:spcAft>
            </a:pPr>
            <a:r>
              <a:rPr sz="1300" b="0" i="0">
                <a:solidFill>
                  <a:srgbClr val="64748B"/>
                </a:solidFill>
                <a:latin typeface="Calibri"/>
              </a:rPr>
              <a:t>duplicate rows</a:t>
            </a:r>
          </a:p>
        </p:txBody>
      </p:sp>
      <p:sp>
        <p:nvSpPr>
          <p:cNvPr id="9" name="TextBox 8"/>
          <p:cNvSpPr txBox="1"/>
          <p:nvPr/>
        </p:nvSpPr>
        <p:spPr>
          <a:xfrm>
            <a:off x="3383280" y="1828800"/>
            <a:ext cx="2926080" cy="1280160"/>
          </a:xfrm>
          <a:prstGeom prst="rect">
            <a:avLst/>
          </a:prstGeom>
          <a:noFill/>
        </p:spPr>
        <p:txBody>
          <a:bodyPr wrap="square" anchor="t" lIns="0" rIns="0" tIns="0" bIns="0">
            <a:spAutoFit/>
          </a:bodyPr>
          <a:lstStyle/>
          <a:p>
            <a:pPr algn="l">
              <a:lnSpc>
                <a:spcPct val="95000"/>
              </a:lnSpc>
              <a:spcBef>
                <a:spcPts val="0"/>
              </a:spcBef>
              <a:spcAft>
                <a:spcPts val="0"/>
              </a:spcAft>
            </a:pPr>
            <a:r>
              <a:rPr sz="4200" b="1" i="0">
                <a:solidFill>
                  <a:srgbClr val="4F46E5"/>
                </a:solidFill>
                <a:latin typeface="Calibri"/>
              </a:rPr>
              <a:t>28</a:t>
            </a:r>
          </a:p>
          <a:p>
            <a:pPr algn="l">
              <a:lnSpc>
                <a:spcPct val="100000"/>
              </a:lnSpc>
              <a:spcBef>
                <a:spcPts val="200"/>
              </a:spcBef>
              <a:spcAft>
                <a:spcPts val="0"/>
              </a:spcAft>
            </a:pPr>
            <a:r>
              <a:rPr sz="1300" b="0" i="0">
                <a:solidFill>
                  <a:srgbClr val="64748B"/>
                </a:solidFill>
                <a:latin typeface="Calibri"/>
              </a:rPr>
              <a:t>profiles (~92% fraudulent)</a:t>
            </a:r>
          </a:p>
        </p:txBody>
      </p:sp>
      <p:sp>
        <p:nvSpPr>
          <p:cNvPr id="10" name="TextBox 9"/>
          <p:cNvSpPr txBox="1"/>
          <p:nvPr/>
        </p:nvSpPr>
        <p:spPr>
          <a:xfrm>
            <a:off x="6583680" y="1828800"/>
            <a:ext cx="3291840" cy="1280160"/>
          </a:xfrm>
          <a:prstGeom prst="rect">
            <a:avLst/>
          </a:prstGeom>
          <a:noFill/>
        </p:spPr>
        <p:txBody>
          <a:bodyPr wrap="square" anchor="t" lIns="0" rIns="0" tIns="0" bIns="0">
            <a:spAutoFit/>
          </a:bodyPr>
          <a:lstStyle/>
          <a:p>
            <a:pPr algn="l">
              <a:lnSpc>
                <a:spcPct val="95000"/>
              </a:lnSpc>
              <a:spcBef>
                <a:spcPts val="0"/>
              </a:spcBef>
              <a:spcAft>
                <a:spcPts val="0"/>
              </a:spcAft>
            </a:pPr>
            <a:r>
              <a:rPr sz="4200" b="1" i="0">
                <a:solidFill>
                  <a:srgbClr val="4F46E5"/>
                </a:solidFill>
                <a:latin typeface="Calibri"/>
              </a:rPr>
              <a:t>5.7%</a:t>
            </a:r>
          </a:p>
          <a:p>
            <a:pPr algn="l">
              <a:lnSpc>
                <a:spcPct val="100000"/>
              </a:lnSpc>
              <a:spcBef>
                <a:spcPts val="200"/>
              </a:spcBef>
              <a:spcAft>
                <a:spcPts val="0"/>
              </a:spcAft>
            </a:pPr>
            <a:r>
              <a:rPr sz="1300" b="0" i="0">
                <a:solidFill>
                  <a:srgbClr val="64748B"/>
                </a:solidFill>
                <a:latin typeface="Calibri"/>
              </a:rPr>
              <a:t>of the test set = copies from train</a:t>
            </a:r>
          </a:p>
        </p:txBody>
      </p:sp>
      <p:sp>
        <p:nvSpPr>
          <p:cNvPr id="11" name="Rounded Rectangle 10"/>
          <p:cNvSpPr/>
          <p:nvPr/>
        </p:nvSpPr>
        <p:spPr>
          <a:xfrm>
            <a:off x="2542032" y="2788920"/>
            <a:ext cx="7534656" cy="320040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eak_vs_group.png"/>
          <p:cNvPicPr>
            <a:picLocks noChangeAspect="1"/>
          </p:cNvPicPr>
          <p:nvPr/>
        </p:nvPicPr>
        <p:blipFill>
          <a:blip r:embed="rId2"/>
          <a:stretch>
            <a:fillRect/>
          </a:stretch>
        </p:blipFill>
        <p:spPr>
          <a:xfrm>
            <a:off x="2973693" y="2898648"/>
            <a:ext cx="6671333" cy="2980944"/>
          </a:xfrm>
          <a:prstGeom prst="rect">
            <a:avLst/>
          </a:prstGeom>
        </p:spPr>
      </p:pic>
      <p:sp>
        <p:nvSpPr>
          <p:cNvPr id="13" name="Rounded Rectangle 12"/>
          <p:cNvSpPr/>
          <p:nvPr/>
        </p:nvSpPr>
        <p:spPr>
          <a:xfrm>
            <a:off x="868680" y="6172200"/>
            <a:ext cx="10881360" cy="594360"/>
          </a:xfrm>
          <a:prstGeom prst="roundRect">
            <a:avLst>
              <a:gd name="adj" fmla="val 10000"/>
            </a:avLst>
          </a:prstGeom>
          <a:solidFill>
            <a:srgbClr val="EC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6172200"/>
            <a:ext cx="73152" cy="59436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6172200"/>
            <a:ext cx="10378440" cy="594360"/>
          </a:xfrm>
          <a:prstGeom prst="rect">
            <a:avLst/>
          </a:prstGeom>
          <a:noFill/>
        </p:spPr>
        <p:txBody>
          <a:bodyPr wrap="square" anchor="ctr" lIns="0" rIns="0" tIns="0" bIns="0">
            <a:spAutoFit/>
          </a:bodyPr>
          <a:lstStyle/>
          <a:p>
            <a:pPr algn="l">
              <a:lnSpc>
                <a:spcPct val="105000"/>
              </a:lnSpc>
              <a:spcBef>
                <a:spcPts val="0"/>
              </a:spcBef>
              <a:spcAft>
                <a:spcPts val="0"/>
              </a:spcAft>
            </a:pPr>
            <a:r>
              <a:rPr sz="1350" b="1" i="0">
                <a:solidFill>
                  <a:srgbClr val="3730A3"/>
                </a:solidFill>
                <a:latin typeface="Calibri"/>
              </a:rPr>
              <a:t>Honestly:  </a:t>
            </a:r>
            <a:r>
              <a:rPr sz="1350" b="0" i="0">
                <a:solidFill>
                  <a:srgbClr val="1E293B"/>
                </a:solidFill>
                <a:latin typeface="Calibri"/>
              </a:rPr>
              <a:t>the grouped split made the evaluation correct; the metrics barely moved, so they came from the features themselves, not from peeking.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PIPELINE</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08</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Feature engineering and preprocessing</a:t>
            </a:r>
          </a:p>
        </p:txBody>
      </p:sp>
      <p:sp>
        <p:nvSpPr>
          <p:cNvPr id="6" name="Rectangle 5"/>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10881360" cy="155448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ipeline_flow.png"/>
          <p:cNvPicPr>
            <a:picLocks noChangeAspect="1"/>
          </p:cNvPicPr>
          <p:nvPr/>
        </p:nvPicPr>
        <p:blipFill>
          <a:blip r:embed="rId2"/>
          <a:stretch>
            <a:fillRect/>
          </a:stretch>
        </p:blipFill>
        <p:spPr>
          <a:xfrm>
            <a:off x="2192303" y="1929384"/>
            <a:ext cx="8234114" cy="1261872"/>
          </a:xfrm>
          <a:prstGeom prst="rect">
            <a:avLst/>
          </a:prstGeom>
        </p:spPr>
      </p:pic>
      <p:sp>
        <p:nvSpPr>
          <p:cNvPr id="9" name="Rounded Rectangle 8"/>
          <p:cNvSpPr/>
          <p:nvPr/>
        </p:nvSpPr>
        <p:spPr>
          <a:xfrm>
            <a:off x="868680" y="3611880"/>
            <a:ext cx="5303520" cy="105156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3611880"/>
            <a:ext cx="4846320" cy="1051560"/>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1E293B"/>
                </a:solidFill>
                <a:latin typeface="Calibri"/>
              </a:rPr>
              <a:t>New features</a:t>
            </a:r>
          </a:p>
          <a:p>
            <a:pPr algn="l">
              <a:lnSpc>
                <a:spcPct val="100000"/>
              </a:lnSpc>
              <a:spcBef>
                <a:spcPts val="300"/>
              </a:spcBef>
              <a:spcAft>
                <a:spcPts val="0"/>
              </a:spcAft>
            </a:pPr>
            <a:r>
              <a:rPr sz="1300" b="1" i="0">
                <a:solidFill>
                  <a:srgbClr val="4F46E5"/>
                </a:solidFill>
                <a:latin typeface="Calibri"/>
              </a:rPr>
              <a:t>→ logs of skewed · flags for sparse · ratios</a:t>
            </a:r>
          </a:p>
        </p:txBody>
      </p:sp>
      <p:sp>
        <p:nvSpPr>
          <p:cNvPr id="11" name="Rounded Rectangle 10"/>
          <p:cNvSpPr/>
          <p:nvPr/>
        </p:nvSpPr>
        <p:spPr>
          <a:xfrm>
            <a:off x="6446520" y="3611880"/>
            <a:ext cx="5303520" cy="105156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84264" y="3611880"/>
            <a:ext cx="4846320" cy="1051560"/>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1E293B"/>
                </a:solidFill>
                <a:latin typeface="Calibri"/>
              </a:rPr>
              <a:t>ColumnTransformer</a:t>
            </a:r>
          </a:p>
          <a:p>
            <a:pPr algn="l">
              <a:lnSpc>
                <a:spcPct val="100000"/>
              </a:lnSpc>
              <a:spcBef>
                <a:spcPts val="300"/>
              </a:spcBef>
              <a:spcAft>
                <a:spcPts val="0"/>
              </a:spcAft>
            </a:pPr>
            <a:r>
              <a:rPr sz="1300" b="1" i="0">
                <a:solidFill>
                  <a:srgbClr val="4F46E5"/>
                </a:solidFill>
                <a:latin typeface="Calibri"/>
              </a:rPr>
              <a:t>→ numeric: median + standardisation; one-hot</a:t>
            </a:r>
          </a:p>
        </p:txBody>
      </p:sp>
      <p:sp>
        <p:nvSpPr>
          <p:cNvPr id="13" name="Rounded Rectangle 12"/>
          <p:cNvSpPr/>
          <p:nvPr/>
        </p:nvSpPr>
        <p:spPr>
          <a:xfrm>
            <a:off x="868680" y="5029200"/>
            <a:ext cx="10881360" cy="868680"/>
          </a:xfrm>
          <a:prstGeom prst="roundRect">
            <a:avLst>
              <a:gd name="adj" fmla="val 10000"/>
            </a:avLst>
          </a:prstGeom>
          <a:solidFill>
            <a:srgbClr val="EC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5029200"/>
            <a:ext cx="73152" cy="86868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5029200"/>
            <a:ext cx="10378440" cy="868680"/>
          </a:xfrm>
          <a:prstGeom prst="rect">
            <a:avLst/>
          </a:prstGeom>
          <a:noFill/>
        </p:spPr>
        <p:txBody>
          <a:bodyPr wrap="square" anchor="ctr" lIns="0" rIns="0" tIns="0" bIns="0">
            <a:spAutoFit/>
          </a:bodyPr>
          <a:lstStyle/>
          <a:p>
            <a:pPr algn="l">
              <a:lnSpc>
                <a:spcPct val="105000"/>
              </a:lnSpc>
              <a:spcBef>
                <a:spcPts val="0"/>
              </a:spcBef>
              <a:spcAft>
                <a:spcPts val="0"/>
              </a:spcAft>
            </a:pPr>
            <a:r>
              <a:rPr sz="1500" b="1" i="0">
                <a:solidFill>
                  <a:srgbClr val="3730A3"/>
                </a:solidFill>
                <a:latin typeface="Calibri"/>
              </a:rPr>
              <a:t>The principle:  </a:t>
            </a:r>
            <a:r>
              <a:rPr sz="1500" b="0" i="0">
                <a:solidFill>
                  <a:srgbClr val="1E293B"/>
                </a:solidFill>
                <a:latin typeface="Calibri"/>
              </a:rPr>
              <a:t>the pipeline is fitted on the training sample only, so test statistics never seep into 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MODELS</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09</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Models and metrics</a:t>
            </a:r>
          </a:p>
        </p:txBody>
      </p:sp>
      <p:sp>
        <p:nvSpPr>
          <p:cNvPr id="6" name="Rectangle 5"/>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5486400" cy="457200"/>
          </a:xfrm>
          <a:prstGeom prst="rect">
            <a:avLst/>
          </a:prstGeom>
          <a:noFill/>
        </p:spPr>
        <p:txBody>
          <a:bodyPr wrap="square" anchor="t" lIns="0" rIns="0" tIns="0" bIns="0">
            <a:spAutoFit/>
          </a:bodyPr>
          <a:lstStyle/>
          <a:p>
            <a:pPr algn="l">
              <a:spcBef>
                <a:spcPts val="0"/>
              </a:spcBef>
              <a:spcAft>
                <a:spcPts val="0"/>
              </a:spcAft>
            </a:pPr>
            <a:r>
              <a:rPr sz="1400" b="0" i="0">
                <a:solidFill>
                  <a:srgbClr val="1E293B"/>
                </a:solidFill>
                <a:latin typeface="Calibri"/>
              </a:rPr>
              <a:t>Four models, class weights for the imbalance:</a:t>
            </a:r>
          </a:p>
        </p:txBody>
      </p:sp>
      <p:sp>
        <p:nvSpPr>
          <p:cNvPr id="8" name="Rounded Rectangle 7"/>
          <p:cNvSpPr/>
          <p:nvPr/>
        </p:nvSpPr>
        <p:spPr>
          <a:xfrm>
            <a:off x="868680" y="2423160"/>
            <a:ext cx="4937760" cy="457200"/>
          </a:xfrm>
          <a:prstGeom prst="roundRect">
            <a:avLst>
              <a:gd name="adj" fmla="val 5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23160"/>
            <a:ext cx="493776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1E293B"/>
                </a:solidFill>
                <a:latin typeface="Calibri"/>
              </a:rPr>
              <a:t>Logistic regression</a:t>
            </a:r>
          </a:p>
        </p:txBody>
      </p:sp>
      <p:sp>
        <p:nvSpPr>
          <p:cNvPr id="10" name="Rounded Rectangle 9"/>
          <p:cNvSpPr/>
          <p:nvPr/>
        </p:nvSpPr>
        <p:spPr>
          <a:xfrm>
            <a:off x="868680" y="3008376"/>
            <a:ext cx="4937760" cy="457200"/>
          </a:xfrm>
          <a:prstGeom prst="roundRect">
            <a:avLst>
              <a:gd name="adj" fmla="val 5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008376"/>
            <a:ext cx="493776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1E293B"/>
                </a:solidFill>
                <a:latin typeface="Calibri"/>
              </a:rPr>
              <a:t>Random forest</a:t>
            </a:r>
          </a:p>
        </p:txBody>
      </p:sp>
      <p:sp>
        <p:nvSpPr>
          <p:cNvPr id="12" name="Rounded Rectangle 11"/>
          <p:cNvSpPr/>
          <p:nvPr/>
        </p:nvSpPr>
        <p:spPr>
          <a:xfrm>
            <a:off x="868680" y="3593592"/>
            <a:ext cx="4937760" cy="457200"/>
          </a:xfrm>
          <a:prstGeom prst="roundRect">
            <a:avLst>
              <a:gd name="adj" fmla="val 5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593592"/>
            <a:ext cx="493776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1E293B"/>
                </a:solidFill>
                <a:latin typeface="Calibri"/>
              </a:rPr>
              <a:t>XGBoost</a:t>
            </a:r>
          </a:p>
        </p:txBody>
      </p:sp>
      <p:sp>
        <p:nvSpPr>
          <p:cNvPr id="14" name="Rounded Rectangle 13"/>
          <p:cNvSpPr/>
          <p:nvPr/>
        </p:nvSpPr>
        <p:spPr>
          <a:xfrm>
            <a:off x="868680" y="4178808"/>
            <a:ext cx="4937760" cy="457200"/>
          </a:xfrm>
          <a:prstGeom prst="roundRect">
            <a:avLst>
              <a:gd name="adj" fmla="val 50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178808"/>
            <a:ext cx="493776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LightGBM</a:t>
            </a:r>
          </a:p>
        </p:txBody>
      </p:sp>
      <p:sp>
        <p:nvSpPr>
          <p:cNvPr id="16" name="Rounded Rectangle 15"/>
          <p:cNvSpPr/>
          <p:nvPr/>
        </p:nvSpPr>
        <p:spPr>
          <a:xfrm>
            <a:off x="868680" y="5029200"/>
            <a:ext cx="4937760" cy="960120"/>
          </a:xfrm>
          <a:prstGeom prst="roundRect">
            <a:avLst>
              <a:gd name="adj" fmla="val 10000"/>
            </a:avLst>
          </a:prstGeom>
          <a:solidFill>
            <a:srgbClr val="EC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5029200"/>
            <a:ext cx="73152"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61288" y="5029200"/>
            <a:ext cx="4434840" cy="960120"/>
          </a:xfrm>
          <a:prstGeom prst="rect">
            <a:avLst/>
          </a:prstGeom>
          <a:noFill/>
        </p:spPr>
        <p:txBody>
          <a:bodyPr wrap="square" anchor="ctr" lIns="0" rIns="0" tIns="0" bIns="0">
            <a:spAutoFit/>
          </a:bodyPr>
          <a:lstStyle/>
          <a:p>
            <a:pPr algn="l">
              <a:lnSpc>
                <a:spcPct val="105000"/>
              </a:lnSpc>
              <a:spcBef>
                <a:spcPts val="0"/>
              </a:spcBef>
              <a:spcAft>
                <a:spcPts val="0"/>
              </a:spcAft>
            </a:pPr>
            <a:r>
              <a:rPr sz="1400" b="1" i="0">
                <a:solidFill>
                  <a:srgbClr val="3730A3"/>
                </a:solidFill>
                <a:latin typeface="Calibri"/>
              </a:rPr>
              <a:t>Selection -  </a:t>
            </a:r>
            <a:r>
              <a:rPr sz="1400" b="0" i="0">
                <a:solidFill>
                  <a:srgbClr val="1E293B"/>
                </a:solidFill>
                <a:latin typeface="Calibri"/>
              </a:rPr>
              <a:t>by five-fold grouped cross-validation, not on the test set.</a:t>
            </a:r>
          </a:p>
        </p:txBody>
      </p:sp>
      <p:sp>
        <p:nvSpPr>
          <p:cNvPr id="19" name="TextBox 18"/>
          <p:cNvSpPr txBox="1"/>
          <p:nvPr/>
        </p:nvSpPr>
        <p:spPr>
          <a:xfrm>
            <a:off x="6400800" y="1783080"/>
            <a:ext cx="5303520" cy="457200"/>
          </a:xfrm>
          <a:prstGeom prst="rect">
            <a:avLst/>
          </a:prstGeom>
          <a:noFill/>
        </p:spPr>
        <p:txBody>
          <a:bodyPr wrap="square" anchor="t" lIns="0" rIns="0" tIns="0" bIns="0">
            <a:spAutoFit/>
          </a:bodyPr>
          <a:lstStyle/>
          <a:p>
            <a:pPr algn="l">
              <a:spcBef>
                <a:spcPts val="0"/>
              </a:spcBef>
              <a:spcAft>
                <a:spcPts val="0"/>
              </a:spcAft>
            </a:pPr>
            <a:r>
              <a:rPr sz="1600" b="1" i="0">
                <a:solidFill>
                  <a:srgbClr val="1E293B"/>
                </a:solidFill>
                <a:latin typeface="Calibri"/>
              </a:rPr>
              <a:t>Why is PR-AUC the main metric?</a:t>
            </a:r>
          </a:p>
        </p:txBody>
      </p:sp>
      <p:sp>
        <p:nvSpPr>
          <p:cNvPr id="20" name="Oval 19"/>
          <p:cNvSpPr/>
          <p:nvPr/>
        </p:nvSpPr>
        <p:spPr>
          <a:xfrm>
            <a:off x="6400800" y="2487168"/>
            <a:ext cx="457200" cy="457200"/>
          </a:xfrm>
          <a:prstGeom prst="ellipse">
            <a:avLst/>
          </a:prstGeom>
          <a:solidFill>
            <a:srgbClr val="E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487168"/>
            <a:ext cx="457200" cy="457200"/>
          </a:xfrm>
          <a:prstGeom prst="rect">
            <a:avLst/>
          </a:prstGeom>
          <a:noFill/>
        </p:spPr>
        <p:txBody>
          <a:bodyPr wrap="square" anchor="ctr" lIns="0" rIns="0" tIns="0" bIns="0">
            <a:spAutoFit/>
          </a:bodyPr>
          <a:lstStyle/>
          <a:p>
            <a:pPr algn="ctr">
              <a:spcBef>
                <a:spcPts val="0"/>
              </a:spcBef>
              <a:spcAft>
                <a:spcPts val="0"/>
              </a:spcAft>
            </a:pPr>
            <a:r>
              <a:rPr sz="1600" b="1" i="0">
                <a:solidFill>
                  <a:srgbClr val="FFFFFF"/>
                </a:solidFill>
                <a:latin typeface="Calibri"/>
              </a:rPr>
              <a:t>✗</a:t>
            </a:r>
          </a:p>
        </p:txBody>
      </p:sp>
      <p:sp>
        <p:nvSpPr>
          <p:cNvPr id="22" name="TextBox 21"/>
          <p:cNvSpPr txBox="1"/>
          <p:nvPr/>
        </p:nvSpPr>
        <p:spPr>
          <a:xfrm>
            <a:off x="7059168" y="2423160"/>
            <a:ext cx="4572000" cy="640080"/>
          </a:xfrm>
          <a:prstGeom prst="rect">
            <a:avLst/>
          </a:prstGeom>
          <a:noFill/>
        </p:spPr>
        <p:txBody>
          <a:bodyPr wrap="square" anchor="ctr" lIns="0" rIns="0" tIns="0" bIns="0">
            <a:spAutoFit/>
          </a:bodyPr>
          <a:lstStyle/>
          <a:p>
            <a:pPr algn="l">
              <a:lnSpc>
                <a:spcPct val="100000"/>
              </a:lnSpc>
              <a:spcBef>
                <a:spcPts val="0"/>
              </a:spcBef>
              <a:spcAft>
                <a:spcPts val="0"/>
              </a:spcAft>
            </a:pPr>
            <a:r>
              <a:rPr sz="1500" b="1" i="0">
                <a:solidFill>
                  <a:srgbClr val="1E293B"/>
                </a:solidFill>
                <a:latin typeface="Calibri"/>
              </a:rPr>
              <a:t>Accuracy</a:t>
            </a:r>
            <a:r>
              <a:rPr sz="1150" b="0" i="0">
                <a:solidFill>
                  <a:srgbClr val="64748B"/>
                </a:solidFill>
                <a:latin typeface="Calibri"/>
              </a:rPr>
              <a:t>  — share of correct answers</a:t>
            </a:r>
          </a:p>
          <a:p>
            <a:pPr algn="l">
              <a:lnSpc>
                <a:spcPct val="100000"/>
              </a:lnSpc>
              <a:spcBef>
                <a:spcPts val="100"/>
              </a:spcBef>
              <a:spcAft>
                <a:spcPts val="0"/>
              </a:spcAft>
            </a:pPr>
            <a:r>
              <a:rPr sz="1200" b="0" i="0">
                <a:solidFill>
                  <a:srgbClr val="64748B"/>
                </a:solidFill>
                <a:latin typeface="Calibri"/>
              </a:rPr>
              <a:t>always say “not fraud” -&gt; 78% for free</a:t>
            </a:r>
          </a:p>
        </p:txBody>
      </p:sp>
      <p:sp>
        <p:nvSpPr>
          <p:cNvPr id="23" name="Oval 22"/>
          <p:cNvSpPr/>
          <p:nvPr/>
        </p:nvSpPr>
        <p:spPr>
          <a:xfrm>
            <a:off x="6400800" y="3401568"/>
            <a:ext cx="457200" cy="457200"/>
          </a:xfrm>
          <a:prstGeom prst="ellipse">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401568"/>
            <a:ext cx="457200" cy="457200"/>
          </a:xfrm>
          <a:prstGeom prst="rect">
            <a:avLst/>
          </a:prstGeom>
          <a:noFill/>
        </p:spPr>
        <p:txBody>
          <a:bodyPr wrap="square" anchor="ctr" lIns="0" rIns="0" tIns="0" bIns="0">
            <a:spAutoFit/>
          </a:bodyPr>
          <a:lstStyle/>
          <a:p>
            <a:pPr algn="ctr">
              <a:spcBef>
                <a:spcPts val="0"/>
              </a:spcBef>
              <a:spcAft>
                <a:spcPts val="0"/>
              </a:spcAft>
            </a:pPr>
            <a:r>
              <a:rPr sz="1600" b="1" i="0">
                <a:solidFill>
                  <a:srgbClr val="FFFFFF"/>
                </a:solidFill>
                <a:latin typeface="Calibri"/>
              </a:rPr>
              <a:t>≈</a:t>
            </a:r>
          </a:p>
        </p:txBody>
      </p:sp>
      <p:sp>
        <p:nvSpPr>
          <p:cNvPr id="25" name="TextBox 24"/>
          <p:cNvSpPr txBox="1"/>
          <p:nvPr/>
        </p:nvSpPr>
        <p:spPr>
          <a:xfrm>
            <a:off x="7059168" y="3337560"/>
            <a:ext cx="4572000" cy="640080"/>
          </a:xfrm>
          <a:prstGeom prst="rect">
            <a:avLst/>
          </a:prstGeom>
          <a:noFill/>
        </p:spPr>
        <p:txBody>
          <a:bodyPr wrap="square" anchor="ctr" lIns="0" rIns="0" tIns="0" bIns="0">
            <a:spAutoFit/>
          </a:bodyPr>
          <a:lstStyle/>
          <a:p>
            <a:pPr algn="l">
              <a:lnSpc>
                <a:spcPct val="100000"/>
              </a:lnSpc>
              <a:spcBef>
                <a:spcPts val="0"/>
              </a:spcBef>
              <a:spcAft>
                <a:spcPts val="0"/>
              </a:spcAft>
            </a:pPr>
            <a:r>
              <a:rPr sz="1500" b="1" i="0">
                <a:solidFill>
                  <a:srgbClr val="1E293B"/>
                </a:solidFill>
                <a:latin typeface="Calibri"/>
              </a:rPr>
              <a:t>ROC-AUC</a:t>
            </a:r>
            <a:r>
              <a:rPr sz="1150" b="0" i="0">
                <a:solidFill>
                  <a:srgbClr val="64748B"/>
                </a:solidFill>
                <a:latin typeface="Calibri"/>
              </a:rPr>
              <a:t>  — area under the ROC curve</a:t>
            </a:r>
          </a:p>
          <a:p>
            <a:pPr algn="l">
              <a:lnSpc>
                <a:spcPct val="100000"/>
              </a:lnSpc>
              <a:spcBef>
                <a:spcPts val="100"/>
              </a:spcBef>
              <a:spcAft>
                <a:spcPts val="0"/>
              </a:spcAft>
            </a:pPr>
            <a:r>
              <a:rPr sz="1200" b="0" i="0">
                <a:solidFill>
                  <a:srgbClr val="64748B"/>
                </a:solidFill>
                <a:latin typeface="Calibri"/>
              </a:rPr>
              <a:t>inflated by the 78% legitimate rows</a:t>
            </a:r>
          </a:p>
        </p:txBody>
      </p:sp>
      <p:sp>
        <p:nvSpPr>
          <p:cNvPr id="26" name="Oval 25"/>
          <p:cNvSpPr/>
          <p:nvPr/>
        </p:nvSpPr>
        <p:spPr>
          <a:xfrm>
            <a:off x="6400800" y="43159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315968"/>
            <a:ext cx="457200" cy="457200"/>
          </a:xfrm>
          <a:prstGeom prst="rect">
            <a:avLst/>
          </a:prstGeom>
          <a:noFill/>
        </p:spPr>
        <p:txBody>
          <a:bodyPr wrap="square" anchor="ctr" lIns="0" rIns="0" tIns="0" bIns="0">
            <a:spAutoFit/>
          </a:bodyPr>
          <a:lstStyle/>
          <a:p>
            <a:pPr algn="ctr">
              <a:spcBef>
                <a:spcPts val="0"/>
              </a:spcBef>
              <a:spcAft>
                <a:spcPts val="0"/>
              </a:spcAft>
            </a:pPr>
            <a:r>
              <a:rPr sz="1600" b="1" i="0">
                <a:solidFill>
                  <a:srgbClr val="FFFFFF"/>
                </a:solidFill>
                <a:latin typeface="Calibri"/>
              </a:rPr>
              <a:t>✓</a:t>
            </a:r>
          </a:p>
        </p:txBody>
      </p:sp>
      <p:sp>
        <p:nvSpPr>
          <p:cNvPr id="28" name="TextBox 27"/>
          <p:cNvSpPr txBox="1"/>
          <p:nvPr/>
        </p:nvSpPr>
        <p:spPr>
          <a:xfrm>
            <a:off x="7059168" y="4251960"/>
            <a:ext cx="4572000" cy="640080"/>
          </a:xfrm>
          <a:prstGeom prst="rect">
            <a:avLst/>
          </a:prstGeom>
          <a:noFill/>
        </p:spPr>
        <p:txBody>
          <a:bodyPr wrap="square" anchor="ctr" lIns="0" rIns="0" tIns="0" bIns="0">
            <a:spAutoFit/>
          </a:bodyPr>
          <a:lstStyle/>
          <a:p>
            <a:pPr algn="l">
              <a:lnSpc>
                <a:spcPct val="100000"/>
              </a:lnSpc>
              <a:spcBef>
                <a:spcPts val="0"/>
              </a:spcBef>
              <a:spcAft>
                <a:spcPts val="0"/>
              </a:spcAft>
            </a:pPr>
            <a:r>
              <a:rPr sz="1500" b="1" i="0">
                <a:solidFill>
                  <a:srgbClr val="1E293B"/>
                </a:solidFill>
                <a:latin typeface="Calibri"/>
              </a:rPr>
              <a:t>PR-AUC</a:t>
            </a:r>
            <a:r>
              <a:rPr sz="1150" b="0" i="0">
                <a:solidFill>
                  <a:srgbClr val="64748B"/>
                </a:solidFill>
                <a:latin typeface="Calibri"/>
              </a:rPr>
              <a:t>  — precision-recall</a:t>
            </a:r>
          </a:p>
          <a:p>
            <a:pPr algn="l">
              <a:lnSpc>
                <a:spcPct val="100000"/>
              </a:lnSpc>
              <a:spcBef>
                <a:spcPts val="100"/>
              </a:spcBef>
              <a:spcAft>
                <a:spcPts val="0"/>
              </a:spcAft>
            </a:pPr>
            <a:r>
              <a:rPr sz="1200" b="0" i="0">
                <a:solidFill>
                  <a:srgbClr val="64748B"/>
                </a:solidFill>
                <a:latin typeface="Calibri"/>
              </a:rPr>
              <a:t>looks at the rare class - the fraudsters</a:t>
            </a:r>
          </a:p>
        </p:txBody>
      </p:sp>
      <p:sp>
        <p:nvSpPr>
          <p:cNvPr id="29" name="Rounded Rectangle 28"/>
          <p:cNvSpPr/>
          <p:nvPr/>
        </p:nvSpPr>
        <p:spPr>
          <a:xfrm>
            <a:off x="6400800" y="5212080"/>
            <a:ext cx="5303520" cy="777240"/>
          </a:xfrm>
          <a:prstGeom prst="roundRect">
            <a:avLst>
              <a:gd name="adj" fmla="val 10000"/>
            </a:avLst>
          </a:prstGeom>
          <a:solidFill>
            <a:srgbClr val="EC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0" y="5212080"/>
            <a:ext cx="73152" cy="7772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3408" y="5212080"/>
            <a:ext cx="4800600" cy="777240"/>
          </a:xfrm>
          <a:prstGeom prst="rect">
            <a:avLst/>
          </a:prstGeom>
          <a:noFill/>
        </p:spPr>
        <p:txBody>
          <a:bodyPr wrap="square" anchor="ctr" lIns="0" rIns="0" tIns="0" bIns="0">
            <a:spAutoFit/>
          </a:bodyPr>
          <a:lstStyle/>
          <a:p>
            <a:pPr algn="l">
              <a:lnSpc>
                <a:spcPct val="105000"/>
              </a:lnSpc>
              <a:spcBef>
                <a:spcPts val="0"/>
              </a:spcBef>
              <a:spcAft>
                <a:spcPts val="0"/>
              </a:spcAft>
            </a:pPr>
            <a:r>
              <a:rPr sz="1350" b="0" i="0">
                <a:solidFill>
                  <a:srgbClr val="1E293B"/>
                </a:solidFill>
                <a:latin typeface="Calibri"/>
              </a:rPr>
              <a:t>Under imbalance PR-AUC is the most honest.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RESULTS</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10</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457200"/>
            <a:ext cx="10881360" cy="365760"/>
          </a:xfrm>
          <a:prstGeom prst="rect">
            <a:avLst/>
          </a:prstGeom>
          <a:noFill/>
        </p:spPr>
        <p:txBody>
          <a:bodyPr wrap="square" anchor="t" lIns="0" rIns="0" tIns="0" bIns="0">
            <a:spAutoFit/>
          </a:bodyPr>
          <a:lstStyle/>
          <a:p>
            <a:pPr algn="l">
              <a:spcBef>
                <a:spcPts val="0"/>
              </a:spcBef>
              <a:spcAft>
                <a:spcPts val="0"/>
              </a:spcAft>
            </a:pPr>
            <a:r>
              <a:rPr sz="1250" b="1" i="0" spc="160">
                <a:solidFill>
                  <a:srgbClr val="4F46E5"/>
                </a:solidFill>
                <a:latin typeface="Calibri"/>
              </a:rPr>
              <a:t>ALL MODELS SIDE BY SIDE</a:t>
            </a:r>
          </a:p>
        </p:txBody>
      </p:sp>
      <p:sp>
        <p:nvSpPr>
          <p:cNvPr id="6" name="TextBox 5"/>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Model comparison</a:t>
            </a:r>
          </a:p>
        </p:txBody>
      </p:sp>
      <p:sp>
        <p:nvSpPr>
          <p:cNvPr id="7" name="Rectangle 6"/>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868680" y="2011680"/>
          <a:ext cx="10881359" cy="2971800"/>
        </p:xfrm>
        <a:graphic>
          <a:graphicData uri="http://schemas.openxmlformats.org/drawingml/2006/table">
            <a:tbl>
              <a:tblPr>
                <a:tableStyleId>{5C22544A-7EE6-4342-B048-85BDC9FD1C3A}</a:tableStyleId>
              </a:tblPr>
              <a:tblGrid>
                <a:gridCol w="3264408"/>
                <a:gridCol w="1523390"/>
                <a:gridCol w="1523390"/>
                <a:gridCol w="1305763"/>
                <a:gridCol w="1632204"/>
                <a:gridCol w="1632204"/>
              </a:tblGrid>
              <a:tr h="594360">
                <a:tc>
                  <a:txBody>
                    <a:bodyPr wrap="square"/>
                    <a:lstStyle/>
                    <a:p>
                      <a:pPr algn="l"/>
                      <a:r>
                        <a:rPr sz="1350" b="1">
                          <a:solidFill>
                            <a:srgbClr val="FFFFFF"/>
                          </a:solidFill>
                          <a:latin typeface="Calibri"/>
                        </a:rPr>
                        <a:t>Model</a:t>
                      </a:r>
                    </a:p>
                  </a:txBody>
                  <a:tcPr marL="109728" marR="73152" marT="18288" marB="18288" anchor="ctr">
                    <a:solidFill>
                      <a:srgbClr val="4F46E5"/>
                    </a:solidFill>
                  </a:tcPr>
                </a:tc>
                <a:tc>
                  <a:txBody>
                    <a:bodyPr wrap="square"/>
                    <a:lstStyle/>
                    <a:p>
                      <a:pPr algn="ctr"/>
                      <a:r>
                        <a:rPr sz="1350" b="1">
                          <a:solidFill>
                            <a:srgbClr val="FFFFFF"/>
                          </a:solidFill>
                          <a:latin typeface="Calibri"/>
                        </a:rPr>
                        <a:t>Precision</a:t>
                      </a:r>
                    </a:p>
                  </a:txBody>
                  <a:tcPr marL="109728" marR="73152" marT="18288" marB="18288" anchor="ctr">
                    <a:solidFill>
                      <a:srgbClr val="4F46E5"/>
                    </a:solidFill>
                  </a:tcPr>
                </a:tc>
                <a:tc>
                  <a:txBody>
                    <a:bodyPr wrap="square"/>
                    <a:lstStyle/>
                    <a:p>
                      <a:pPr algn="ctr"/>
                      <a:r>
                        <a:rPr sz="1350" b="1">
                          <a:solidFill>
                            <a:srgbClr val="FFFFFF"/>
                          </a:solidFill>
                          <a:latin typeface="Calibri"/>
                        </a:rPr>
                        <a:t>Recall</a:t>
                      </a:r>
                    </a:p>
                  </a:txBody>
                  <a:tcPr marL="109728" marR="73152" marT="18288" marB="18288" anchor="ctr">
                    <a:solidFill>
                      <a:srgbClr val="4F46E5"/>
                    </a:solidFill>
                  </a:tcPr>
                </a:tc>
                <a:tc>
                  <a:txBody>
                    <a:bodyPr wrap="square"/>
                    <a:lstStyle/>
                    <a:p>
                      <a:pPr algn="ctr"/>
                      <a:r>
                        <a:rPr sz="1350" b="1">
                          <a:solidFill>
                            <a:srgbClr val="FFFFFF"/>
                          </a:solidFill>
                          <a:latin typeface="Calibri"/>
                        </a:rPr>
                        <a:t>F1</a:t>
                      </a:r>
                    </a:p>
                  </a:txBody>
                  <a:tcPr marL="109728" marR="73152" marT="18288" marB="18288" anchor="ctr">
                    <a:solidFill>
                      <a:srgbClr val="4F46E5"/>
                    </a:solidFill>
                  </a:tcPr>
                </a:tc>
                <a:tc>
                  <a:txBody>
                    <a:bodyPr wrap="square"/>
                    <a:lstStyle/>
                    <a:p>
                      <a:pPr algn="ctr"/>
                      <a:r>
                        <a:rPr sz="1350" b="1">
                          <a:solidFill>
                            <a:srgbClr val="FFFFFF"/>
                          </a:solidFill>
                          <a:latin typeface="Calibri"/>
                        </a:rPr>
                        <a:t>ROC-AUC</a:t>
                      </a:r>
                    </a:p>
                  </a:txBody>
                  <a:tcPr marL="109728" marR="73152" marT="18288" marB="18288" anchor="ctr">
                    <a:solidFill>
                      <a:srgbClr val="4F46E5"/>
                    </a:solidFill>
                  </a:tcPr>
                </a:tc>
                <a:tc>
                  <a:txBody>
                    <a:bodyPr wrap="square"/>
                    <a:lstStyle/>
                    <a:p>
                      <a:pPr algn="ctr"/>
                      <a:r>
                        <a:rPr sz="1350" b="1">
                          <a:solidFill>
                            <a:srgbClr val="FFFFFF"/>
                          </a:solidFill>
                          <a:latin typeface="Calibri"/>
                        </a:rPr>
                        <a:t>PR-AUC</a:t>
                      </a:r>
                    </a:p>
                  </a:txBody>
                  <a:tcPr marL="109728" marR="73152" marT="18288" marB="18288" anchor="ctr">
                    <a:solidFill>
                      <a:srgbClr val="4F46E5"/>
                    </a:solidFill>
                  </a:tcPr>
                </a:tc>
              </a:tr>
              <a:tr h="594360">
                <a:tc>
                  <a:txBody>
                    <a:bodyPr wrap="square"/>
                    <a:lstStyle/>
                    <a:p>
                      <a:pPr algn="l"/>
                      <a:r>
                        <a:rPr sz="1350" b="0">
                          <a:solidFill>
                            <a:srgbClr val="1E293B"/>
                          </a:solidFill>
                          <a:latin typeface="Calibri"/>
                        </a:rPr>
                        <a:t>Logistic regression</a:t>
                      </a:r>
                    </a:p>
                  </a:txBody>
                  <a:tcPr marL="109728" marR="73152" marT="18288" marB="18288" anchor="ctr">
                    <a:solidFill>
                      <a:srgbClr val="FFFFFF"/>
                    </a:solidFill>
                  </a:tcPr>
                </a:tc>
                <a:tc>
                  <a:txBody>
                    <a:bodyPr wrap="square"/>
                    <a:lstStyle/>
                    <a:p>
                      <a:pPr algn="ctr"/>
                      <a:r>
                        <a:rPr sz="1350" b="0">
                          <a:solidFill>
                            <a:srgbClr val="1E293B"/>
                          </a:solidFill>
                          <a:latin typeface="Calibri"/>
                        </a:rPr>
                        <a:t>0.719</a:t>
                      </a:r>
                    </a:p>
                  </a:txBody>
                  <a:tcPr marL="109728" marR="73152" marT="18288" marB="18288" anchor="ctr">
                    <a:solidFill>
                      <a:srgbClr val="FFFFFF"/>
                    </a:solidFill>
                  </a:tcPr>
                </a:tc>
                <a:tc>
                  <a:txBody>
                    <a:bodyPr wrap="square"/>
                    <a:lstStyle/>
                    <a:p>
                      <a:pPr algn="ctr"/>
                      <a:r>
                        <a:rPr sz="1350" b="0">
                          <a:solidFill>
                            <a:srgbClr val="1E293B"/>
                          </a:solidFill>
                          <a:latin typeface="Calibri"/>
                        </a:rPr>
                        <a:t>0.940</a:t>
                      </a:r>
                    </a:p>
                  </a:txBody>
                  <a:tcPr marL="109728" marR="73152" marT="18288" marB="18288" anchor="ctr">
                    <a:solidFill>
                      <a:srgbClr val="FFFFFF"/>
                    </a:solidFill>
                  </a:tcPr>
                </a:tc>
                <a:tc>
                  <a:txBody>
                    <a:bodyPr wrap="square"/>
                    <a:lstStyle/>
                    <a:p>
                      <a:pPr algn="ctr"/>
                      <a:r>
                        <a:rPr sz="1350" b="0">
                          <a:solidFill>
                            <a:srgbClr val="1E293B"/>
                          </a:solidFill>
                          <a:latin typeface="Calibri"/>
                        </a:rPr>
                        <a:t>0.815</a:t>
                      </a:r>
                    </a:p>
                  </a:txBody>
                  <a:tcPr marL="109728" marR="73152" marT="18288" marB="18288" anchor="ctr">
                    <a:solidFill>
                      <a:srgbClr val="FFFFFF"/>
                    </a:solidFill>
                  </a:tcPr>
                </a:tc>
                <a:tc>
                  <a:txBody>
                    <a:bodyPr wrap="square"/>
                    <a:lstStyle/>
                    <a:p>
                      <a:pPr algn="ctr"/>
                      <a:r>
                        <a:rPr sz="1350" b="0">
                          <a:solidFill>
                            <a:srgbClr val="1E293B"/>
                          </a:solidFill>
                          <a:latin typeface="Calibri"/>
                        </a:rPr>
                        <a:t>0.982</a:t>
                      </a:r>
                    </a:p>
                  </a:txBody>
                  <a:tcPr marL="109728" marR="73152" marT="18288" marB="18288" anchor="ctr">
                    <a:solidFill>
                      <a:srgbClr val="FFFFFF"/>
                    </a:solidFill>
                  </a:tcPr>
                </a:tc>
                <a:tc>
                  <a:txBody>
                    <a:bodyPr wrap="square"/>
                    <a:lstStyle/>
                    <a:p>
                      <a:pPr algn="ctr"/>
                      <a:r>
                        <a:rPr sz="1350" b="0">
                          <a:solidFill>
                            <a:srgbClr val="1E293B"/>
                          </a:solidFill>
                          <a:latin typeface="Calibri"/>
                        </a:rPr>
                        <a:t>0.947</a:t>
                      </a:r>
                    </a:p>
                  </a:txBody>
                  <a:tcPr marL="109728" marR="73152" marT="18288" marB="18288" anchor="ctr">
                    <a:solidFill>
                      <a:srgbClr val="FFFFFF"/>
                    </a:solidFill>
                  </a:tcPr>
                </a:tc>
              </a:tr>
              <a:tr h="594360">
                <a:tc>
                  <a:txBody>
                    <a:bodyPr wrap="square"/>
                    <a:lstStyle/>
                    <a:p>
                      <a:pPr algn="l"/>
                      <a:r>
                        <a:rPr sz="1350" b="0">
                          <a:solidFill>
                            <a:srgbClr val="1E293B"/>
                          </a:solidFill>
                          <a:latin typeface="Calibri"/>
                        </a:rPr>
                        <a:t>Random forest</a:t>
                      </a:r>
                    </a:p>
                  </a:txBody>
                  <a:tcPr marL="109728" marR="73152" marT="18288" marB="18288" anchor="ctr">
                    <a:solidFill>
                      <a:srgbClr val="FFFFFF"/>
                    </a:solidFill>
                  </a:tcPr>
                </a:tc>
                <a:tc>
                  <a:txBody>
                    <a:bodyPr wrap="square"/>
                    <a:lstStyle/>
                    <a:p>
                      <a:pPr algn="ctr"/>
                      <a:r>
                        <a:rPr sz="1350" b="0">
                          <a:solidFill>
                            <a:srgbClr val="1E293B"/>
                          </a:solidFill>
                          <a:latin typeface="Calibri"/>
                        </a:rPr>
                        <a:t>0.979</a:t>
                      </a:r>
                    </a:p>
                  </a:txBody>
                  <a:tcPr marL="109728" marR="73152" marT="18288" marB="18288" anchor="ctr">
                    <a:solidFill>
                      <a:srgbClr val="FFFFFF"/>
                    </a:solidFill>
                  </a:tcPr>
                </a:tc>
                <a:tc>
                  <a:txBody>
                    <a:bodyPr wrap="square"/>
                    <a:lstStyle/>
                    <a:p>
                      <a:pPr algn="ctr"/>
                      <a:r>
                        <a:rPr sz="1350" b="0">
                          <a:solidFill>
                            <a:srgbClr val="1E293B"/>
                          </a:solidFill>
                          <a:latin typeface="Calibri"/>
                        </a:rPr>
                        <a:t>0.986</a:t>
                      </a:r>
                    </a:p>
                  </a:txBody>
                  <a:tcPr marL="109728" marR="73152" marT="18288" marB="18288" anchor="ctr">
                    <a:solidFill>
                      <a:srgbClr val="FFFFFF"/>
                    </a:solidFill>
                  </a:tcPr>
                </a:tc>
                <a:tc>
                  <a:txBody>
                    <a:bodyPr wrap="square"/>
                    <a:lstStyle/>
                    <a:p>
                      <a:pPr algn="ctr"/>
                      <a:r>
                        <a:rPr sz="1350" b="0">
                          <a:solidFill>
                            <a:srgbClr val="1E293B"/>
                          </a:solidFill>
                          <a:latin typeface="Calibri"/>
                        </a:rPr>
                        <a:t>0.983</a:t>
                      </a:r>
                    </a:p>
                  </a:txBody>
                  <a:tcPr marL="109728" marR="73152" marT="18288" marB="18288" anchor="ctr">
                    <a:solidFill>
                      <a:srgbClr val="FFFFFF"/>
                    </a:solidFill>
                  </a:tcPr>
                </a:tc>
                <a:tc>
                  <a:txBody>
                    <a:bodyPr wrap="square"/>
                    <a:lstStyle/>
                    <a:p>
                      <a:pPr algn="ctr"/>
                      <a:r>
                        <a:rPr sz="1350" b="0">
                          <a:solidFill>
                            <a:srgbClr val="1E293B"/>
                          </a:solidFill>
                          <a:latin typeface="Calibri"/>
                        </a:rPr>
                        <a:t>0.9996</a:t>
                      </a:r>
                    </a:p>
                  </a:txBody>
                  <a:tcPr marL="109728" marR="73152" marT="18288" marB="18288" anchor="ctr">
                    <a:solidFill>
                      <a:srgbClr val="FFFFFF"/>
                    </a:solidFill>
                  </a:tcPr>
                </a:tc>
                <a:tc>
                  <a:txBody>
                    <a:bodyPr wrap="square"/>
                    <a:lstStyle/>
                    <a:p>
                      <a:pPr algn="ctr"/>
                      <a:r>
                        <a:rPr sz="1350" b="0">
                          <a:solidFill>
                            <a:srgbClr val="1E293B"/>
                          </a:solidFill>
                          <a:latin typeface="Calibri"/>
                        </a:rPr>
                        <a:t>0.9987</a:t>
                      </a:r>
                    </a:p>
                  </a:txBody>
                  <a:tcPr marL="109728" marR="73152" marT="18288" marB="18288" anchor="ctr">
                    <a:solidFill>
                      <a:srgbClr val="FFFFFF"/>
                    </a:solidFill>
                  </a:tcPr>
                </a:tc>
              </a:tr>
              <a:tr h="594360">
                <a:tc>
                  <a:txBody>
                    <a:bodyPr wrap="square"/>
                    <a:lstStyle/>
                    <a:p>
                      <a:pPr algn="l"/>
                      <a:r>
                        <a:rPr sz="1350" b="0">
                          <a:solidFill>
                            <a:srgbClr val="1E293B"/>
                          </a:solidFill>
                          <a:latin typeface="Calibri"/>
                        </a:rPr>
                        <a:t>XGBoost</a:t>
                      </a:r>
                    </a:p>
                  </a:txBody>
                  <a:tcPr marL="109728" marR="73152" marT="18288" marB="18288" anchor="ctr">
                    <a:solidFill>
                      <a:srgbClr val="FFFFFF"/>
                    </a:solidFill>
                  </a:tcPr>
                </a:tc>
                <a:tc>
                  <a:txBody>
                    <a:bodyPr wrap="square"/>
                    <a:lstStyle/>
                    <a:p>
                      <a:pPr algn="ctr"/>
                      <a:r>
                        <a:rPr sz="1350" b="0">
                          <a:solidFill>
                            <a:srgbClr val="1E293B"/>
                          </a:solidFill>
                          <a:latin typeface="Calibri"/>
                        </a:rPr>
                        <a:t>0.982</a:t>
                      </a:r>
                    </a:p>
                  </a:txBody>
                  <a:tcPr marL="109728" marR="73152" marT="18288" marB="18288" anchor="ctr">
                    <a:solidFill>
                      <a:srgbClr val="FFFFFF"/>
                    </a:solidFill>
                  </a:tcPr>
                </a:tc>
                <a:tc>
                  <a:txBody>
                    <a:bodyPr wrap="square"/>
                    <a:lstStyle/>
                    <a:p>
                      <a:pPr algn="ctr"/>
                      <a:r>
                        <a:rPr sz="1350" b="0">
                          <a:solidFill>
                            <a:srgbClr val="1E293B"/>
                          </a:solidFill>
                          <a:latin typeface="Calibri"/>
                        </a:rPr>
                        <a:t>0.986</a:t>
                      </a:r>
                    </a:p>
                  </a:txBody>
                  <a:tcPr marL="109728" marR="73152" marT="18288" marB="18288" anchor="ctr">
                    <a:solidFill>
                      <a:srgbClr val="FFFFFF"/>
                    </a:solidFill>
                  </a:tcPr>
                </a:tc>
                <a:tc>
                  <a:txBody>
                    <a:bodyPr wrap="square"/>
                    <a:lstStyle/>
                    <a:p>
                      <a:pPr algn="ctr"/>
                      <a:r>
                        <a:rPr sz="1350" b="0">
                          <a:solidFill>
                            <a:srgbClr val="1E293B"/>
                          </a:solidFill>
                          <a:latin typeface="Calibri"/>
                        </a:rPr>
                        <a:t>0.984</a:t>
                      </a:r>
                    </a:p>
                  </a:txBody>
                  <a:tcPr marL="109728" marR="73152" marT="18288" marB="18288" anchor="ctr">
                    <a:solidFill>
                      <a:srgbClr val="FFFFFF"/>
                    </a:solidFill>
                  </a:tcPr>
                </a:tc>
                <a:tc>
                  <a:txBody>
                    <a:bodyPr wrap="square"/>
                    <a:lstStyle/>
                    <a:p>
                      <a:pPr algn="ctr"/>
                      <a:r>
                        <a:rPr sz="1350" b="0">
                          <a:solidFill>
                            <a:srgbClr val="1E293B"/>
                          </a:solidFill>
                          <a:latin typeface="Calibri"/>
                        </a:rPr>
                        <a:t>0.9998</a:t>
                      </a:r>
                    </a:p>
                  </a:txBody>
                  <a:tcPr marL="109728" marR="73152" marT="18288" marB="18288" anchor="ctr">
                    <a:solidFill>
                      <a:srgbClr val="FFFFFF"/>
                    </a:solidFill>
                  </a:tcPr>
                </a:tc>
                <a:tc>
                  <a:txBody>
                    <a:bodyPr wrap="square"/>
                    <a:lstStyle/>
                    <a:p>
                      <a:pPr algn="ctr"/>
                      <a:r>
                        <a:rPr sz="1350" b="0">
                          <a:solidFill>
                            <a:srgbClr val="1E293B"/>
                          </a:solidFill>
                          <a:latin typeface="Calibri"/>
                        </a:rPr>
                        <a:t>0.9992</a:t>
                      </a:r>
                    </a:p>
                  </a:txBody>
                  <a:tcPr marL="109728" marR="73152" marT="18288" marB="18288" anchor="ctr">
                    <a:solidFill>
                      <a:srgbClr val="FFFFFF"/>
                    </a:solidFill>
                  </a:tcPr>
                </a:tc>
              </a:tr>
              <a:tr h="594360">
                <a:tc>
                  <a:txBody>
                    <a:bodyPr wrap="square"/>
                    <a:lstStyle/>
                    <a:p>
                      <a:pPr algn="l"/>
                      <a:r>
                        <a:rPr sz="1350" b="1">
                          <a:solidFill>
                            <a:srgbClr val="1E293B"/>
                          </a:solidFill>
                          <a:latin typeface="Calibri"/>
                        </a:rPr>
                        <a:t>LightGBM</a:t>
                      </a:r>
                    </a:p>
                  </a:txBody>
                  <a:tcPr marL="109728" marR="73152" marT="18288" marB="18288" anchor="ctr">
                    <a:solidFill>
                      <a:srgbClr val="ECEEFE"/>
                    </a:solidFill>
                  </a:tcPr>
                </a:tc>
                <a:tc>
                  <a:txBody>
                    <a:bodyPr wrap="square"/>
                    <a:lstStyle/>
                    <a:p>
                      <a:pPr algn="ctr"/>
                      <a:r>
                        <a:rPr sz="1350" b="1">
                          <a:solidFill>
                            <a:srgbClr val="1E293B"/>
                          </a:solidFill>
                          <a:latin typeface="Calibri"/>
                        </a:rPr>
                        <a:t>0.986</a:t>
                      </a:r>
                    </a:p>
                  </a:txBody>
                  <a:tcPr marL="109728" marR="73152" marT="18288" marB="18288" anchor="ctr">
                    <a:solidFill>
                      <a:srgbClr val="ECEEFE"/>
                    </a:solidFill>
                  </a:tcPr>
                </a:tc>
                <a:tc>
                  <a:txBody>
                    <a:bodyPr wrap="square"/>
                    <a:lstStyle/>
                    <a:p>
                      <a:pPr algn="ctr"/>
                      <a:r>
                        <a:rPr sz="1350" b="1">
                          <a:solidFill>
                            <a:srgbClr val="1E293B"/>
                          </a:solidFill>
                          <a:latin typeface="Calibri"/>
                        </a:rPr>
                        <a:t>0.989</a:t>
                      </a:r>
                    </a:p>
                  </a:txBody>
                  <a:tcPr marL="109728" marR="73152" marT="18288" marB="18288" anchor="ctr">
                    <a:solidFill>
                      <a:srgbClr val="ECEEFE"/>
                    </a:solidFill>
                  </a:tcPr>
                </a:tc>
                <a:tc>
                  <a:txBody>
                    <a:bodyPr wrap="square"/>
                    <a:lstStyle/>
                    <a:p>
                      <a:pPr algn="ctr"/>
                      <a:r>
                        <a:rPr sz="1350" b="1">
                          <a:solidFill>
                            <a:srgbClr val="1E293B"/>
                          </a:solidFill>
                          <a:latin typeface="Calibri"/>
                        </a:rPr>
                        <a:t>0.987</a:t>
                      </a:r>
                    </a:p>
                  </a:txBody>
                  <a:tcPr marL="109728" marR="73152" marT="18288" marB="18288" anchor="ctr">
                    <a:solidFill>
                      <a:srgbClr val="ECEEFE"/>
                    </a:solidFill>
                  </a:tcPr>
                </a:tc>
                <a:tc>
                  <a:txBody>
                    <a:bodyPr wrap="square"/>
                    <a:lstStyle/>
                    <a:p>
                      <a:pPr algn="ctr"/>
                      <a:r>
                        <a:rPr sz="1350" b="1">
                          <a:solidFill>
                            <a:srgbClr val="1E293B"/>
                          </a:solidFill>
                          <a:latin typeface="Calibri"/>
                        </a:rPr>
                        <a:t>0.9998</a:t>
                      </a:r>
                    </a:p>
                  </a:txBody>
                  <a:tcPr marL="109728" marR="73152" marT="18288" marB="18288" anchor="ctr">
                    <a:solidFill>
                      <a:srgbClr val="ECEEFE"/>
                    </a:solidFill>
                  </a:tcPr>
                </a:tc>
                <a:tc>
                  <a:txBody>
                    <a:bodyPr wrap="square"/>
                    <a:lstStyle/>
                    <a:p>
                      <a:pPr algn="ctr"/>
                      <a:r>
                        <a:rPr sz="1350" b="1">
                          <a:solidFill>
                            <a:srgbClr val="1E293B"/>
                          </a:solidFill>
                          <a:latin typeface="Calibri"/>
                        </a:rPr>
                        <a:t>0.9994</a:t>
                      </a:r>
                    </a:p>
                  </a:txBody>
                  <a:tcPr marL="109728" marR="73152" marT="18288" marB="18288" anchor="ctr">
                    <a:solidFill>
                      <a:srgbClr val="ECEEFE"/>
                    </a:solidFill>
                  </a:tcPr>
                </a:tc>
              </a:tr>
            </a:tbl>
          </a:graphicData>
        </a:graphic>
      </p:graphicFrame>
      <p:sp>
        <p:nvSpPr>
          <p:cNvPr id="9" name="TextBox 8"/>
          <p:cNvSpPr txBox="1"/>
          <p:nvPr/>
        </p:nvSpPr>
        <p:spPr>
          <a:xfrm>
            <a:off x="868680" y="5047488"/>
            <a:ext cx="10881360" cy="292608"/>
          </a:xfrm>
          <a:prstGeom prst="rect">
            <a:avLst/>
          </a:prstGeom>
          <a:noFill/>
        </p:spPr>
        <p:txBody>
          <a:bodyPr wrap="square" anchor="t" lIns="0" rIns="0" tIns="0" bIns="0">
            <a:spAutoFit/>
          </a:bodyPr>
          <a:lstStyle/>
          <a:p>
            <a:pPr algn="l">
              <a:spcBef>
                <a:spcPts val="0"/>
              </a:spcBef>
              <a:spcAft>
                <a:spcPts val="0"/>
              </a:spcAft>
            </a:pPr>
            <a:r>
              <a:rPr sz="1150" b="0" i="0">
                <a:solidFill>
                  <a:srgbClr val="64748B"/>
                </a:solidFill>
                <a:latin typeface="Calibri"/>
              </a:rPr>
              <a:t>Precision · Recall · F1 balances the two · ROC-AUC / PR-AUC are areas under the curves</a:t>
            </a:r>
          </a:p>
        </p:txBody>
      </p:sp>
      <p:sp>
        <p:nvSpPr>
          <p:cNvPr id="10" name="Rounded Rectangle 9"/>
          <p:cNvSpPr/>
          <p:nvPr/>
        </p:nvSpPr>
        <p:spPr>
          <a:xfrm>
            <a:off x="868680" y="5440680"/>
            <a:ext cx="10881360" cy="822960"/>
          </a:xfrm>
          <a:prstGeom prst="roundRect">
            <a:avLst>
              <a:gd name="adj" fmla="val 10000"/>
            </a:avLst>
          </a:prstGeom>
          <a:solidFill>
            <a:srgbClr val="EC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5440680"/>
            <a:ext cx="73152" cy="82296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1288" y="5440680"/>
            <a:ext cx="10378440" cy="822960"/>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3730A3"/>
                </a:solidFill>
                <a:latin typeface="Calibri"/>
              </a:rPr>
              <a:t>Takeaway:  </a:t>
            </a:r>
            <a:r>
              <a:rPr sz="1450" b="0" i="0">
                <a:solidFill>
                  <a:srgbClr val="1E293B"/>
                </a:solidFill>
                <a:latin typeface="Calibri"/>
              </a:rPr>
              <a:t>the three ensembles are practically level and strong, logistic regression is clearly behind - the ensembles did not win by chance.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MODELS</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11</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457200"/>
            <a:ext cx="10881360" cy="365760"/>
          </a:xfrm>
          <a:prstGeom prst="rect">
            <a:avLst/>
          </a:prstGeom>
          <a:noFill/>
        </p:spPr>
        <p:txBody>
          <a:bodyPr wrap="square" anchor="t" lIns="0" rIns="0" tIns="0" bIns="0">
            <a:spAutoFit/>
          </a:bodyPr>
          <a:lstStyle/>
          <a:p>
            <a:pPr algn="l">
              <a:spcBef>
                <a:spcPts val="0"/>
              </a:spcBef>
              <a:spcAft>
                <a:spcPts val="0"/>
              </a:spcAft>
            </a:pPr>
            <a:r>
              <a:rPr sz="1250" b="1" i="0" spc="160">
                <a:solidFill>
                  <a:srgbClr val="4F46E5"/>
                </a:solidFill>
                <a:latin typeface="Calibri"/>
              </a:rPr>
              <a:t>WHY LIGHTGBM</a:t>
            </a:r>
          </a:p>
        </p:txBody>
      </p:sp>
      <p:sp>
        <p:nvSpPr>
          <p:cNvPr id="6" name="TextBox 5"/>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Model strengths and weaknesses</a:t>
            </a:r>
          </a:p>
        </p:txBody>
      </p:sp>
      <p:sp>
        <p:nvSpPr>
          <p:cNvPr id="7" name="Rectangle 6"/>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874519"/>
            <a:ext cx="5303520" cy="169164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057399"/>
            <a:ext cx="4846320" cy="1380744"/>
          </a:xfrm>
          <a:prstGeom prst="rect">
            <a:avLst/>
          </a:prstGeom>
          <a:noFill/>
        </p:spPr>
        <p:txBody>
          <a:bodyPr wrap="square" anchor="t" lIns="0" rIns="0" tIns="0" bIns="0">
            <a:spAutoFit/>
          </a:bodyPr>
          <a:lstStyle/>
          <a:p>
            <a:pPr algn="l">
              <a:lnSpc>
                <a:spcPct val="100000"/>
              </a:lnSpc>
              <a:spcBef>
                <a:spcPts val="0"/>
              </a:spcBef>
              <a:spcAft>
                <a:spcPts val="0"/>
              </a:spcAft>
            </a:pPr>
            <a:r>
              <a:rPr sz="1550" b="1" i="0">
                <a:solidFill>
                  <a:srgbClr val="1E293B"/>
                </a:solidFill>
                <a:latin typeface="Calibri"/>
              </a:rPr>
              <a:t>Logistic regression</a:t>
            </a:r>
          </a:p>
          <a:p>
            <a:pPr algn="l">
              <a:lnSpc>
                <a:spcPct val="100000"/>
              </a:lnSpc>
              <a:spcBef>
                <a:spcPts val="600"/>
              </a:spcBef>
              <a:spcAft>
                <a:spcPts val="0"/>
              </a:spcAft>
            </a:pPr>
            <a:r>
              <a:rPr sz="1300" b="1" i="0">
                <a:solidFill>
                  <a:srgbClr val="10B981"/>
                </a:solidFill>
                <a:latin typeface="Calibri"/>
              </a:rPr>
              <a:t>+  </a:t>
            </a:r>
            <a:r>
              <a:rPr sz="1250" b="0" i="0">
                <a:solidFill>
                  <a:srgbClr val="1E293B"/>
                </a:solidFill>
                <a:latin typeface="Calibri"/>
              </a:rPr>
              <a:t>simple and easy to interpret</a:t>
            </a:r>
          </a:p>
          <a:p>
            <a:pPr algn="l">
              <a:lnSpc>
                <a:spcPct val="100000"/>
              </a:lnSpc>
              <a:spcBef>
                <a:spcPts val="300"/>
              </a:spcBef>
              <a:spcAft>
                <a:spcPts val="0"/>
              </a:spcAft>
            </a:pPr>
            <a:r>
              <a:rPr sz="1300" b="1" i="0">
                <a:solidFill>
                  <a:srgbClr val="E1495B"/>
                </a:solidFill>
                <a:latin typeface="Calibri"/>
              </a:rPr>
              <a:t>–  </a:t>
            </a:r>
            <a:r>
              <a:rPr sz="1250" b="0" i="0">
                <a:solidFill>
                  <a:srgbClr val="64748B"/>
                </a:solidFill>
                <a:latin typeface="Calibri"/>
              </a:rPr>
              <a:t>linear: low precision, many false alarms</a:t>
            </a:r>
          </a:p>
        </p:txBody>
      </p:sp>
      <p:sp>
        <p:nvSpPr>
          <p:cNvPr id="10" name="Rounded Rectangle 9"/>
          <p:cNvSpPr/>
          <p:nvPr/>
        </p:nvSpPr>
        <p:spPr>
          <a:xfrm>
            <a:off x="6446520" y="1874519"/>
            <a:ext cx="5303520" cy="169164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84264" y="2057399"/>
            <a:ext cx="4846320" cy="1380744"/>
          </a:xfrm>
          <a:prstGeom prst="rect">
            <a:avLst/>
          </a:prstGeom>
          <a:noFill/>
        </p:spPr>
        <p:txBody>
          <a:bodyPr wrap="square" anchor="t" lIns="0" rIns="0" tIns="0" bIns="0">
            <a:spAutoFit/>
          </a:bodyPr>
          <a:lstStyle/>
          <a:p>
            <a:pPr algn="l">
              <a:lnSpc>
                <a:spcPct val="100000"/>
              </a:lnSpc>
              <a:spcBef>
                <a:spcPts val="0"/>
              </a:spcBef>
              <a:spcAft>
                <a:spcPts val="0"/>
              </a:spcAft>
            </a:pPr>
            <a:r>
              <a:rPr sz="1550" b="1" i="0">
                <a:solidFill>
                  <a:srgbClr val="1E293B"/>
                </a:solidFill>
                <a:latin typeface="Calibri"/>
              </a:rPr>
              <a:t>Random forest</a:t>
            </a:r>
          </a:p>
          <a:p>
            <a:pPr algn="l">
              <a:lnSpc>
                <a:spcPct val="100000"/>
              </a:lnSpc>
              <a:spcBef>
                <a:spcPts val="600"/>
              </a:spcBef>
              <a:spcAft>
                <a:spcPts val="0"/>
              </a:spcAft>
            </a:pPr>
            <a:r>
              <a:rPr sz="1300" b="1" i="0">
                <a:solidFill>
                  <a:srgbClr val="10B981"/>
                </a:solidFill>
                <a:latin typeface="Calibri"/>
              </a:rPr>
              <a:t>+  </a:t>
            </a:r>
            <a:r>
              <a:rPr sz="1250" b="0" i="0">
                <a:solidFill>
                  <a:srgbClr val="1E293B"/>
                </a:solidFill>
                <a:latin typeface="Calibri"/>
              </a:rPr>
              <a:t>robust, needs almost no tuning</a:t>
            </a:r>
          </a:p>
          <a:p>
            <a:pPr algn="l">
              <a:lnSpc>
                <a:spcPct val="100000"/>
              </a:lnSpc>
              <a:spcBef>
                <a:spcPts val="300"/>
              </a:spcBef>
              <a:spcAft>
                <a:spcPts val="0"/>
              </a:spcAft>
            </a:pPr>
            <a:r>
              <a:rPr sz="1300" b="1" i="0">
                <a:solidFill>
                  <a:srgbClr val="E1495B"/>
                </a:solidFill>
                <a:latin typeface="Calibri"/>
              </a:rPr>
              <a:t>–  </a:t>
            </a:r>
            <a:r>
              <a:rPr sz="1250" b="0" i="0">
                <a:solidFill>
                  <a:srgbClr val="64748B"/>
                </a:solidFill>
                <a:latin typeface="Calibri"/>
              </a:rPr>
              <a:t>larger and slower than boosting</a:t>
            </a:r>
          </a:p>
        </p:txBody>
      </p:sp>
      <p:sp>
        <p:nvSpPr>
          <p:cNvPr id="12" name="Rounded Rectangle 11"/>
          <p:cNvSpPr/>
          <p:nvPr/>
        </p:nvSpPr>
        <p:spPr>
          <a:xfrm>
            <a:off x="868680" y="3749039"/>
            <a:ext cx="5303520" cy="169164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6424" y="3931919"/>
            <a:ext cx="4846320" cy="1380744"/>
          </a:xfrm>
          <a:prstGeom prst="rect">
            <a:avLst/>
          </a:prstGeom>
          <a:noFill/>
        </p:spPr>
        <p:txBody>
          <a:bodyPr wrap="square" anchor="t" lIns="0" rIns="0" tIns="0" bIns="0">
            <a:spAutoFit/>
          </a:bodyPr>
          <a:lstStyle/>
          <a:p>
            <a:pPr algn="l">
              <a:lnSpc>
                <a:spcPct val="100000"/>
              </a:lnSpc>
              <a:spcBef>
                <a:spcPts val="0"/>
              </a:spcBef>
              <a:spcAft>
                <a:spcPts val="0"/>
              </a:spcAft>
            </a:pPr>
            <a:r>
              <a:rPr sz="1550" b="1" i="0">
                <a:solidFill>
                  <a:srgbClr val="1E293B"/>
                </a:solidFill>
                <a:latin typeface="Calibri"/>
              </a:rPr>
              <a:t>XGBoost</a:t>
            </a:r>
          </a:p>
          <a:p>
            <a:pPr algn="l">
              <a:lnSpc>
                <a:spcPct val="100000"/>
              </a:lnSpc>
              <a:spcBef>
                <a:spcPts val="600"/>
              </a:spcBef>
              <a:spcAft>
                <a:spcPts val="0"/>
              </a:spcAft>
            </a:pPr>
            <a:r>
              <a:rPr sz="1300" b="1" i="0">
                <a:solidFill>
                  <a:srgbClr val="10B981"/>
                </a:solidFill>
                <a:latin typeface="Calibri"/>
              </a:rPr>
              <a:t>+  </a:t>
            </a:r>
            <a:r>
              <a:rPr sz="1250" b="0" i="0">
                <a:solidFill>
                  <a:srgbClr val="1E293B"/>
                </a:solidFill>
                <a:latin typeface="Calibri"/>
              </a:rPr>
              <a:t>very accurate tree boosting</a:t>
            </a:r>
          </a:p>
          <a:p>
            <a:pPr algn="l">
              <a:lnSpc>
                <a:spcPct val="100000"/>
              </a:lnSpc>
              <a:spcBef>
                <a:spcPts val="300"/>
              </a:spcBef>
              <a:spcAft>
                <a:spcPts val="0"/>
              </a:spcAft>
            </a:pPr>
            <a:r>
              <a:rPr sz="1300" b="1" i="0">
                <a:solidFill>
                  <a:srgbClr val="E1495B"/>
                </a:solidFill>
                <a:latin typeface="Calibri"/>
              </a:rPr>
              <a:t>–  </a:t>
            </a:r>
            <a:r>
              <a:rPr sz="1250" b="0" i="0">
                <a:solidFill>
                  <a:srgbClr val="64748B"/>
                </a:solidFill>
                <a:latin typeface="Calibri"/>
              </a:rPr>
              <a:t>sensitive to hyperparameter choice</a:t>
            </a:r>
          </a:p>
        </p:txBody>
      </p:sp>
      <p:sp>
        <p:nvSpPr>
          <p:cNvPr id="14" name="Rounded Rectangle 13"/>
          <p:cNvSpPr/>
          <p:nvPr/>
        </p:nvSpPr>
        <p:spPr>
          <a:xfrm>
            <a:off x="6446520" y="3749039"/>
            <a:ext cx="5303520" cy="1691640"/>
          </a:xfrm>
          <a:prstGeom prst="roundRect">
            <a:avLst>
              <a:gd name="adj" fmla="val 5000"/>
            </a:avLst>
          </a:prstGeom>
          <a:solidFill>
            <a:srgbClr val="ECEEFE"/>
          </a:solidFill>
          <a:ln w="2032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84264" y="3931919"/>
            <a:ext cx="4846320" cy="1380744"/>
          </a:xfrm>
          <a:prstGeom prst="rect">
            <a:avLst/>
          </a:prstGeom>
          <a:noFill/>
        </p:spPr>
        <p:txBody>
          <a:bodyPr wrap="square" anchor="t" lIns="0" rIns="0" tIns="0" bIns="0">
            <a:spAutoFit/>
          </a:bodyPr>
          <a:lstStyle/>
          <a:p>
            <a:pPr algn="l">
              <a:lnSpc>
                <a:spcPct val="100000"/>
              </a:lnSpc>
              <a:spcBef>
                <a:spcPts val="0"/>
              </a:spcBef>
              <a:spcAft>
                <a:spcPts val="0"/>
              </a:spcAft>
            </a:pPr>
            <a:r>
              <a:rPr sz="1550" b="1" i="0">
                <a:solidFill>
                  <a:srgbClr val="3730A3"/>
                </a:solidFill>
                <a:latin typeface="Calibri"/>
              </a:rPr>
              <a:t>LightGBM</a:t>
            </a:r>
            <a:r>
              <a:rPr sz="1150" b="1" i="0">
                <a:solidFill>
                  <a:srgbClr val="4F46E5"/>
                </a:solidFill>
                <a:latin typeface="Calibri"/>
              </a:rPr>
              <a:t>   ★ chosen</a:t>
            </a:r>
          </a:p>
          <a:p>
            <a:pPr algn="l">
              <a:lnSpc>
                <a:spcPct val="100000"/>
              </a:lnSpc>
              <a:spcBef>
                <a:spcPts val="600"/>
              </a:spcBef>
              <a:spcAft>
                <a:spcPts val="0"/>
              </a:spcAft>
            </a:pPr>
            <a:r>
              <a:rPr sz="1300" b="1" i="0">
                <a:solidFill>
                  <a:srgbClr val="10B981"/>
                </a:solidFill>
                <a:latin typeface="Calibri"/>
              </a:rPr>
              <a:t>+  </a:t>
            </a:r>
            <a:r>
              <a:rPr sz="1250" b="0" i="0">
                <a:solidFill>
                  <a:srgbClr val="1E293B"/>
                </a:solidFill>
                <a:latin typeface="Calibri"/>
              </a:rPr>
              <a:t>best balance of quality, fast and compact</a:t>
            </a:r>
          </a:p>
          <a:p>
            <a:pPr algn="l">
              <a:lnSpc>
                <a:spcPct val="100000"/>
              </a:lnSpc>
              <a:spcBef>
                <a:spcPts val="300"/>
              </a:spcBef>
              <a:spcAft>
                <a:spcPts val="0"/>
              </a:spcAft>
            </a:pPr>
            <a:r>
              <a:rPr sz="1300" b="1" i="0">
                <a:solidFill>
                  <a:srgbClr val="E1495B"/>
                </a:solidFill>
                <a:latin typeface="Calibri"/>
              </a:rPr>
              <a:t>–  </a:t>
            </a:r>
            <a:r>
              <a:rPr sz="1250" b="0" i="0">
                <a:solidFill>
                  <a:srgbClr val="64748B"/>
                </a:solidFill>
                <a:latin typeface="Calibri"/>
              </a:rPr>
              <a:t>(the gap to the other ensembles is within noise)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RESULTS</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12</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457200"/>
            <a:ext cx="10881360" cy="365760"/>
          </a:xfrm>
          <a:prstGeom prst="rect">
            <a:avLst/>
          </a:prstGeom>
          <a:noFill/>
        </p:spPr>
        <p:txBody>
          <a:bodyPr wrap="square" anchor="t" lIns="0" rIns="0" tIns="0" bIns="0">
            <a:spAutoFit/>
          </a:bodyPr>
          <a:lstStyle/>
          <a:p>
            <a:pPr algn="l">
              <a:spcBef>
                <a:spcPts val="0"/>
              </a:spcBef>
              <a:spcAft>
                <a:spcPts val="0"/>
              </a:spcAft>
            </a:pPr>
            <a:r>
              <a:rPr sz="1250" b="1" i="0" spc="160">
                <a:solidFill>
                  <a:srgbClr val="4F46E5"/>
                </a:solidFill>
                <a:latin typeface="Calibri"/>
              </a:rPr>
              <a:t>THE BEST MODEL</a:t>
            </a:r>
          </a:p>
        </p:txBody>
      </p:sp>
      <p:sp>
        <p:nvSpPr>
          <p:cNvPr id="6" name="TextBox 5"/>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LightGBM on the test set</a:t>
            </a:r>
          </a:p>
        </p:txBody>
      </p:sp>
      <p:sp>
        <p:nvSpPr>
          <p:cNvPr id="7" name="Rectangle 6"/>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874519"/>
            <a:ext cx="5669280" cy="1005840"/>
          </a:xfrm>
          <a:prstGeom prst="roundRect">
            <a:avLst>
              <a:gd name="adj" fmla="val 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1874519"/>
            <a:ext cx="5029200" cy="1005840"/>
          </a:xfrm>
          <a:prstGeom prst="rect">
            <a:avLst/>
          </a:prstGeom>
          <a:noFill/>
        </p:spPr>
        <p:txBody>
          <a:bodyPr wrap="square" anchor="ctr" lIns="0" rIns="0" tIns="0" bIns="0">
            <a:spAutoFit/>
          </a:bodyPr>
          <a:lstStyle/>
          <a:p>
            <a:pPr algn="l">
              <a:lnSpc>
                <a:spcPct val="100000"/>
              </a:lnSpc>
              <a:spcBef>
                <a:spcPts val="0"/>
              </a:spcBef>
              <a:spcAft>
                <a:spcPts val="0"/>
              </a:spcAft>
            </a:pPr>
            <a:r>
              <a:rPr sz="1400" b="0" i="0">
                <a:solidFill>
                  <a:srgbClr val="C7D2FE"/>
                </a:solidFill>
                <a:latin typeface="Calibri"/>
              </a:rPr>
              <a:t>Cross-validation winner: </a:t>
            </a:r>
            <a:r>
              <a:rPr sz="1900" b="1" i="0">
                <a:solidFill>
                  <a:srgbClr val="FFFFFF"/>
                </a:solidFill>
                <a:latin typeface="Calibri"/>
              </a:rPr>
              <a:t>LightGBM</a:t>
            </a:r>
          </a:p>
        </p:txBody>
      </p:sp>
      <p:sp>
        <p:nvSpPr>
          <p:cNvPr id="10" name="TextBox 9"/>
          <p:cNvSpPr txBox="1"/>
          <p:nvPr/>
        </p:nvSpPr>
        <p:spPr>
          <a:xfrm>
            <a:off x="868680" y="3246120"/>
            <a:ext cx="1828800" cy="1280160"/>
          </a:xfrm>
          <a:prstGeom prst="rect">
            <a:avLst/>
          </a:prstGeom>
          <a:noFill/>
        </p:spPr>
        <p:txBody>
          <a:bodyPr wrap="square" anchor="t" lIns="0" rIns="0" tIns="0" bIns="0">
            <a:spAutoFit/>
          </a:bodyPr>
          <a:lstStyle/>
          <a:p>
            <a:pPr algn="l">
              <a:lnSpc>
                <a:spcPct val="95000"/>
              </a:lnSpc>
              <a:spcBef>
                <a:spcPts val="0"/>
              </a:spcBef>
              <a:spcAft>
                <a:spcPts val="0"/>
              </a:spcAft>
            </a:pPr>
            <a:r>
              <a:rPr sz="3300" b="1" i="0">
                <a:solidFill>
                  <a:srgbClr val="4F46E5"/>
                </a:solidFill>
                <a:latin typeface="Calibri"/>
              </a:rPr>
              <a:t>0.986</a:t>
            </a:r>
          </a:p>
          <a:p>
            <a:pPr algn="l">
              <a:lnSpc>
                <a:spcPct val="100000"/>
              </a:lnSpc>
              <a:spcBef>
                <a:spcPts val="200"/>
              </a:spcBef>
              <a:spcAft>
                <a:spcPts val="0"/>
              </a:spcAft>
            </a:pPr>
            <a:r>
              <a:rPr sz="1300" b="0" i="0">
                <a:solidFill>
                  <a:srgbClr val="64748B"/>
                </a:solidFill>
                <a:latin typeface="Calibri"/>
              </a:rPr>
              <a:t>precision</a:t>
            </a:r>
          </a:p>
        </p:txBody>
      </p:sp>
      <p:sp>
        <p:nvSpPr>
          <p:cNvPr id="11" name="TextBox 10"/>
          <p:cNvSpPr txBox="1"/>
          <p:nvPr/>
        </p:nvSpPr>
        <p:spPr>
          <a:xfrm>
            <a:off x="2788920" y="3246120"/>
            <a:ext cx="1828800" cy="1280160"/>
          </a:xfrm>
          <a:prstGeom prst="rect">
            <a:avLst/>
          </a:prstGeom>
          <a:noFill/>
        </p:spPr>
        <p:txBody>
          <a:bodyPr wrap="square" anchor="t" lIns="0" rIns="0" tIns="0" bIns="0">
            <a:spAutoFit/>
          </a:bodyPr>
          <a:lstStyle/>
          <a:p>
            <a:pPr algn="l">
              <a:lnSpc>
                <a:spcPct val="95000"/>
              </a:lnSpc>
              <a:spcBef>
                <a:spcPts val="0"/>
              </a:spcBef>
              <a:spcAft>
                <a:spcPts val="0"/>
              </a:spcAft>
            </a:pPr>
            <a:r>
              <a:rPr sz="3300" b="1" i="0">
                <a:solidFill>
                  <a:srgbClr val="10B981"/>
                </a:solidFill>
                <a:latin typeface="Calibri"/>
              </a:rPr>
              <a:t>0.989</a:t>
            </a:r>
          </a:p>
          <a:p>
            <a:pPr algn="l">
              <a:lnSpc>
                <a:spcPct val="100000"/>
              </a:lnSpc>
              <a:spcBef>
                <a:spcPts val="200"/>
              </a:spcBef>
              <a:spcAft>
                <a:spcPts val="0"/>
              </a:spcAft>
            </a:pPr>
            <a:r>
              <a:rPr sz="1300" b="0" i="0">
                <a:solidFill>
                  <a:srgbClr val="64748B"/>
                </a:solidFill>
                <a:latin typeface="Calibri"/>
              </a:rPr>
              <a:t>recall</a:t>
            </a:r>
          </a:p>
        </p:txBody>
      </p:sp>
      <p:sp>
        <p:nvSpPr>
          <p:cNvPr id="12" name="TextBox 11"/>
          <p:cNvSpPr txBox="1"/>
          <p:nvPr/>
        </p:nvSpPr>
        <p:spPr>
          <a:xfrm>
            <a:off x="4709160" y="3246120"/>
            <a:ext cx="1828800" cy="1280160"/>
          </a:xfrm>
          <a:prstGeom prst="rect">
            <a:avLst/>
          </a:prstGeom>
          <a:noFill/>
        </p:spPr>
        <p:txBody>
          <a:bodyPr wrap="square" anchor="t" lIns="0" rIns="0" tIns="0" bIns="0">
            <a:spAutoFit/>
          </a:bodyPr>
          <a:lstStyle/>
          <a:p>
            <a:pPr algn="l">
              <a:lnSpc>
                <a:spcPct val="95000"/>
              </a:lnSpc>
              <a:spcBef>
                <a:spcPts val="0"/>
              </a:spcBef>
              <a:spcAft>
                <a:spcPts val="0"/>
              </a:spcAft>
            </a:pPr>
            <a:r>
              <a:rPr sz="3300" b="1" i="0">
                <a:solidFill>
                  <a:srgbClr val="4F46E5"/>
                </a:solidFill>
                <a:latin typeface="Calibri"/>
              </a:rPr>
              <a:t>0.999</a:t>
            </a:r>
          </a:p>
          <a:p>
            <a:pPr algn="l">
              <a:lnSpc>
                <a:spcPct val="100000"/>
              </a:lnSpc>
              <a:spcBef>
                <a:spcPts val="200"/>
              </a:spcBef>
              <a:spcAft>
                <a:spcPts val="0"/>
              </a:spcAft>
            </a:pPr>
            <a:r>
              <a:rPr sz="1300" b="0" i="0">
                <a:solidFill>
                  <a:srgbClr val="64748B"/>
                </a:solidFill>
                <a:latin typeface="Calibri"/>
              </a:rPr>
              <a:t>PR-AUC</a:t>
            </a:r>
          </a:p>
        </p:txBody>
      </p:sp>
      <p:sp>
        <p:nvSpPr>
          <p:cNvPr id="13" name="Rounded Rectangle 12"/>
          <p:cNvSpPr/>
          <p:nvPr/>
        </p:nvSpPr>
        <p:spPr>
          <a:xfrm>
            <a:off x="868680" y="4892040"/>
            <a:ext cx="5669280" cy="960120"/>
          </a:xfrm>
          <a:prstGeom prst="roundRect">
            <a:avLst>
              <a:gd name="adj" fmla="val 10000"/>
            </a:avLst>
          </a:prstGeom>
          <a:solidFill>
            <a:srgbClr val="EC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4892040"/>
            <a:ext cx="73152"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4892040"/>
            <a:ext cx="5166360" cy="960120"/>
          </a:xfrm>
          <a:prstGeom prst="rect">
            <a:avLst/>
          </a:prstGeom>
          <a:noFill/>
        </p:spPr>
        <p:txBody>
          <a:bodyPr wrap="square" anchor="ctr" lIns="0" rIns="0" tIns="0" bIns="0">
            <a:spAutoFit/>
          </a:bodyPr>
          <a:lstStyle/>
          <a:p>
            <a:pPr algn="l">
              <a:lnSpc>
                <a:spcPct val="105000"/>
              </a:lnSpc>
              <a:spcBef>
                <a:spcPts val="0"/>
              </a:spcBef>
              <a:spcAft>
                <a:spcPts val="0"/>
              </a:spcAft>
            </a:pPr>
            <a:r>
              <a:rPr sz="1500" b="0" i="0">
                <a:solidFill>
                  <a:srgbClr val="1E293B"/>
                </a:solidFill>
                <a:latin typeface="Calibri"/>
              </a:rPr>
              <a:t>Out of 436 fraudsters only 5 were missed, with 6 false alarms.</a:t>
            </a:r>
          </a:p>
        </p:txBody>
      </p:sp>
      <p:sp>
        <p:nvSpPr>
          <p:cNvPr id="16" name="Rounded Rectangle 15"/>
          <p:cNvSpPr/>
          <p:nvPr/>
        </p:nvSpPr>
        <p:spPr>
          <a:xfrm>
            <a:off x="6949440" y="1874519"/>
            <a:ext cx="4754880" cy="443484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onfusion2.png"/>
          <p:cNvPicPr>
            <a:picLocks noChangeAspect="1"/>
          </p:cNvPicPr>
          <p:nvPr/>
        </p:nvPicPr>
        <p:blipFill>
          <a:blip r:embed="rId2"/>
          <a:stretch>
            <a:fillRect/>
          </a:stretch>
        </p:blipFill>
        <p:spPr>
          <a:xfrm>
            <a:off x="7114032" y="2058801"/>
            <a:ext cx="4425696" cy="406627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ANALYSIS</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13</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457200"/>
            <a:ext cx="10881360" cy="365760"/>
          </a:xfrm>
          <a:prstGeom prst="rect">
            <a:avLst/>
          </a:prstGeom>
          <a:noFill/>
        </p:spPr>
        <p:txBody>
          <a:bodyPr wrap="square" anchor="t" lIns="0" rIns="0" tIns="0" bIns="0">
            <a:spAutoFit/>
          </a:bodyPr>
          <a:lstStyle/>
          <a:p>
            <a:pPr algn="l">
              <a:spcBef>
                <a:spcPts val="0"/>
              </a:spcBef>
              <a:spcAft>
                <a:spcPts val="0"/>
              </a:spcAft>
            </a:pPr>
            <a:r>
              <a:rPr sz="1250" b="1" i="0" spc="160">
                <a:solidFill>
                  <a:srgbClr val="4F46E5"/>
                </a:solidFill>
                <a:latin typeface="Calibri"/>
              </a:rPr>
              <a:t>WHY IT TURNED OUT THIS WAY</a:t>
            </a:r>
          </a:p>
        </p:txBody>
      </p:sp>
      <p:sp>
        <p:nvSpPr>
          <p:cNvPr id="6" name="TextBox 5"/>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Analysis of the results</a:t>
            </a:r>
          </a:p>
        </p:txBody>
      </p:sp>
      <p:sp>
        <p:nvSpPr>
          <p:cNvPr id="7" name="Rectangle 6"/>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920240"/>
            <a:ext cx="5212080" cy="105156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1920240"/>
            <a:ext cx="4754880" cy="1051560"/>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1E293B"/>
                </a:solidFill>
                <a:latin typeface="Calibri"/>
              </a:rPr>
              <a:t>Ensembles ≫ the linear model</a:t>
            </a:r>
          </a:p>
          <a:p>
            <a:pPr algn="l">
              <a:lnSpc>
                <a:spcPct val="100000"/>
              </a:lnSpc>
              <a:spcBef>
                <a:spcPts val="300"/>
              </a:spcBef>
              <a:spcAft>
                <a:spcPts val="0"/>
              </a:spcAft>
            </a:pPr>
            <a:r>
              <a:rPr sz="1300" b="1" i="0">
                <a:solidFill>
                  <a:srgbClr val="4F46E5"/>
                </a:solidFill>
                <a:latin typeface="Calibri"/>
              </a:rPr>
              <a:t>→ the data has non-linear structure</a:t>
            </a:r>
          </a:p>
        </p:txBody>
      </p:sp>
      <p:sp>
        <p:nvSpPr>
          <p:cNvPr id="10" name="Rounded Rectangle 9"/>
          <p:cNvSpPr/>
          <p:nvPr/>
        </p:nvSpPr>
        <p:spPr>
          <a:xfrm>
            <a:off x="868680" y="3127248"/>
            <a:ext cx="5212080" cy="105156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3127248"/>
            <a:ext cx="4754880" cy="1051560"/>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1E293B"/>
                </a:solidFill>
                <a:latin typeface="Calibri"/>
              </a:rPr>
              <a:t>Logreg: high recall, low precision</a:t>
            </a:r>
          </a:p>
          <a:p>
            <a:pPr algn="l">
              <a:lnSpc>
                <a:spcPct val="100000"/>
              </a:lnSpc>
              <a:spcBef>
                <a:spcPts val="300"/>
              </a:spcBef>
              <a:spcAft>
                <a:spcPts val="0"/>
              </a:spcAft>
            </a:pPr>
            <a:r>
              <a:rPr sz="1300" b="1" i="0">
                <a:solidFill>
                  <a:srgbClr val="4F46E5"/>
                </a:solidFill>
                <a:latin typeface="Calibri"/>
              </a:rPr>
              <a:t>→ many false alarms</a:t>
            </a:r>
          </a:p>
        </p:txBody>
      </p:sp>
      <p:sp>
        <p:nvSpPr>
          <p:cNvPr id="12" name="Rounded Rectangle 11"/>
          <p:cNvSpPr/>
          <p:nvPr/>
        </p:nvSpPr>
        <p:spPr>
          <a:xfrm>
            <a:off x="868680" y="4334256"/>
            <a:ext cx="5212080" cy="105156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6424" y="4334256"/>
            <a:ext cx="4754880" cy="1051560"/>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1E293B"/>
                </a:solidFill>
                <a:latin typeface="Calibri"/>
              </a:rPr>
              <a:t>Recall is the metric that matters</a:t>
            </a:r>
          </a:p>
          <a:p>
            <a:pPr algn="l">
              <a:lnSpc>
                <a:spcPct val="100000"/>
              </a:lnSpc>
              <a:spcBef>
                <a:spcPts val="300"/>
              </a:spcBef>
              <a:spcAft>
                <a:spcPts val="0"/>
              </a:spcAft>
            </a:pPr>
            <a:r>
              <a:rPr sz="1300" b="1" i="0">
                <a:solidFill>
                  <a:srgbClr val="4F46E5"/>
                </a:solidFill>
                <a:latin typeface="Calibri"/>
              </a:rPr>
              <a:t>→ missing a fraudster costs more</a:t>
            </a:r>
          </a:p>
        </p:txBody>
      </p:sp>
      <p:sp>
        <p:nvSpPr>
          <p:cNvPr id="14" name="Rounded Rectangle 13"/>
          <p:cNvSpPr/>
          <p:nvPr/>
        </p:nvSpPr>
        <p:spPr>
          <a:xfrm>
            <a:off x="6400800" y="1920240"/>
            <a:ext cx="5303520" cy="420624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eature_importance2.png"/>
          <p:cNvPicPr>
            <a:picLocks noChangeAspect="1"/>
          </p:cNvPicPr>
          <p:nvPr/>
        </p:nvPicPr>
        <p:blipFill>
          <a:blip r:embed="rId2"/>
          <a:stretch>
            <a:fillRect/>
          </a:stretch>
        </p:blipFill>
        <p:spPr>
          <a:xfrm>
            <a:off x="6565392" y="2510493"/>
            <a:ext cx="4974336" cy="302573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805940" y="3177540"/>
            <a:ext cx="4114800" cy="502920"/>
          </a:xfrm>
          <a:prstGeom prst="rect">
            <a:avLst/>
          </a:prstGeom>
          <a:noFill/>
        </p:spPr>
        <p:txBody>
          <a:bodyPr wrap="square" anchor="ctr" lIns="0" rIns="0" tIns="0" bIns="0">
            <a:spAutoFit/>
          </a:bodyPr>
          <a:lstStyle/>
          <a:p>
            <a:pPr algn="ctr">
              <a:spcBef>
                <a:spcPts val="0"/>
              </a:spcBef>
              <a:spcAft>
                <a:spcPts val="0"/>
              </a:spcAft>
            </a:pPr>
            <a:r>
              <a:rPr sz="1050" b="1" i="0" spc="180">
                <a:solidFill>
                  <a:srgbClr val="FFFFFF"/>
                </a:solidFill>
                <a:latin typeface="Calibri"/>
              </a:rPr>
              <a:t>CONCLUSIONS</a:t>
            </a:r>
          </a:p>
        </p:txBody>
      </p:sp>
      <p:sp>
        <p:nvSpPr>
          <p:cNvPr id="4" name="TextBox 3"/>
          <p:cNvSpPr txBox="1"/>
          <p:nvPr/>
        </p:nvSpPr>
        <p:spPr>
          <a:xfrm>
            <a:off x="0" y="6126480"/>
            <a:ext cx="502920" cy="566928"/>
          </a:xfrm>
          <a:prstGeom prst="rect">
            <a:avLst/>
          </a:prstGeom>
          <a:noFill/>
        </p:spPr>
        <p:txBody>
          <a:bodyPr wrap="square" anchor="ctr" lIns="0" rIns="0" tIns="0" bIns="0">
            <a:spAutoFit/>
          </a:bodyPr>
          <a:lstStyle/>
          <a:p>
            <a:pPr algn="ctr">
              <a:lnSpc>
                <a:spcPct val="90000"/>
              </a:lnSpc>
              <a:spcBef>
                <a:spcPts val="0"/>
              </a:spcBef>
              <a:spcAft>
                <a:spcPts val="0"/>
              </a:spcAft>
            </a:pPr>
            <a:r>
              <a:rPr sz="1500" b="1" i="0">
                <a:solidFill>
                  <a:srgbClr val="FFFFFF"/>
                </a:solidFill>
                <a:latin typeface="Calibri"/>
              </a:rPr>
              <a:t>14</a:t>
            </a:r>
          </a:p>
          <a:p>
            <a:pPr algn="ctr">
              <a:lnSpc>
                <a:spcPct val="90000"/>
              </a:lnSpc>
              <a:spcBef>
                <a:spcPts val="0"/>
              </a:spcBef>
              <a:spcAft>
                <a:spcPts val="0"/>
              </a:spcAft>
            </a:pPr>
            <a:r>
              <a:rPr sz="850" b="0" i="0">
                <a:solidFill>
                  <a:srgbClr val="C7D2FE"/>
                </a:solidFill>
                <a:latin typeface="Calibri"/>
              </a:rPr>
              <a:t>/ 14</a:t>
            </a:r>
          </a:p>
        </p:txBody>
      </p:sp>
      <p:sp>
        <p:nvSpPr>
          <p:cNvPr id="5" name="TextBox 4"/>
          <p:cNvSpPr txBox="1"/>
          <p:nvPr/>
        </p:nvSpPr>
        <p:spPr>
          <a:xfrm>
            <a:off x="8686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1" i="0">
                <a:solidFill>
                  <a:srgbClr val="1E293B"/>
                </a:solidFill>
                <a:latin typeface="Calibri"/>
              </a:rPr>
              <a:t>Conclusions and next steps</a:t>
            </a:r>
          </a:p>
        </p:txBody>
      </p:sp>
      <p:sp>
        <p:nvSpPr>
          <p:cNvPr id="6" name="Rectangle 5"/>
          <p:cNvSpPr/>
          <p:nvPr/>
        </p:nvSpPr>
        <p:spPr>
          <a:xfrm>
            <a:off x="868680" y="1554480"/>
            <a:ext cx="822960" cy="4445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74519"/>
            <a:ext cx="3502152" cy="160020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874519"/>
            <a:ext cx="3502152"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 y="2121408"/>
            <a:ext cx="3081528" cy="1234440"/>
          </a:xfrm>
          <a:prstGeom prst="rect">
            <a:avLst/>
          </a:prstGeom>
          <a:noFill/>
        </p:spPr>
        <p:txBody>
          <a:bodyPr wrap="square" anchor="t" lIns="0" rIns="0" tIns="0" bIns="0">
            <a:spAutoFit/>
          </a:bodyPr>
          <a:lstStyle/>
          <a:p>
            <a:pPr algn="l">
              <a:lnSpc>
                <a:spcPct val="105000"/>
              </a:lnSpc>
              <a:spcBef>
                <a:spcPts val="0"/>
              </a:spcBef>
              <a:spcAft>
                <a:spcPts val="0"/>
              </a:spcAft>
            </a:pPr>
            <a:r>
              <a:rPr sz="1550" b="1" i="0">
                <a:solidFill>
                  <a:srgbClr val="1E293B"/>
                </a:solidFill>
                <a:latin typeface="Calibri"/>
              </a:rPr>
              <a:t>Leakage found and removed</a:t>
            </a:r>
          </a:p>
          <a:p>
            <a:pPr algn="l">
              <a:lnSpc>
                <a:spcPct val="110000"/>
              </a:lnSpc>
              <a:spcBef>
                <a:spcPts val="500"/>
              </a:spcBef>
              <a:spcAft>
                <a:spcPts val="0"/>
              </a:spcAft>
            </a:pPr>
            <a:r>
              <a:rPr sz="1250" b="0" i="0">
                <a:solidFill>
                  <a:srgbClr val="64748B"/>
                </a:solidFill>
                <a:latin typeface="Calibri"/>
              </a:rPr>
              <a:t>the grouped split is the methodological core of the work</a:t>
            </a:r>
          </a:p>
        </p:txBody>
      </p:sp>
      <p:sp>
        <p:nvSpPr>
          <p:cNvPr id="10" name="Rounded Rectangle 9"/>
          <p:cNvSpPr/>
          <p:nvPr/>
        </p:nvSpPr>
        <p:spPr>
          <a:xfrm>
            <a:off x="4553712" y="1874519"/>
            <a:ext cx="3502152" cy="160020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3712" y="1874519"/>
            <a:ext cx="3502152"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73168" y="2121408"/>
            <a:ext cx="3081528" cy="1234440"/>
          </a:xfrm>
          <a:prstGeom prst="rect">
            <a:avLst/>
          </a:prstGeom>
          <a:noFill/>
        </p:spPr>
        <p:txBody>
          <a:bodyPr wrap="square" anchor="t" lIns="0" rIns="0" tIns="0" bIns="0">
            <a:spAutoFit/>
          </a:bodyPr>
          <a:lstStyle/>
          <a:p>
            <a:pPr algn="l">
              <a:lnSpc>
                <a:spcPct val="105000"/>
              </a:lnSpc>
              <a:spcBef>
                <a:spcPts val="0"/>
              </a:spcBef>
              <a:spcAft>
                <a:spcPts val="0"/>
              </a:spcAft>
            </a:pPr>
            <a:r>
              <a:rPr sz="1550" b="1" i="0">
                <a:solidFill>
                  <a:srgbClr val="1E293B"/>
                </a:solidFill>
                <a:latin typeface="Calibri"/>
              </a:rPr>
              <a:t>LightGBM: recall 0.989</a:t>
            </a:r>
          </a:p>
          <a:p>
            <a:pPr algn="l">
              <a:lnSpc>
                <a:spcPct val="110000"/>
              </a:lnSpc>
              <a:spcBef>
                <a:spcPts val="500"/>
              </a:spcBef>
              <a:spcAft>
                <a:spcPts val="0"/>
              </a:spcAft>
            </a:pPr>
            <a:r>
              <a:rPr sz="1250" b="0" i="0">
                <a:solidFill>
                  <a:srgbClr val="64748B"/>
                </a:solidFill>
                <a:latin typeface="Calibri"/>
              </a:rPr>
              <a:t>only 5 fraudsters missed on the test set</a:t>
            </a:r>
          </a:p>
        </p:txBody>
      </p:sp>
      <p:sp>
        <p:nvSpPr>
          <p:cNvPr id="13" name="Rounded Rectangle 12"/>
          <p:cNvSpPr/>
          <p:nvPr/>
        </p:nvSpPr>
        <p:spPr>
          <a:xfrm>
            <a:off x="8238744" y="1874519"/>
            <a:ext cx="3502152" cy="160020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38744" y="1874519"/>
            <a:ext cx="3502152"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200" y="2121408"/>
            <a:ext cx="3081528" cy="1234440"/>
          </a:xfrm>
          <a:prstGeom prst="rect">
            <a:avLst/>
          </a:prstGeom>
          <a:noFill/>
        </p:spPr>
        <p:txBody>
          <a:bodyPr wrap="square" anchor="t" lIns="0" rIns="0" tIns="0" bIns="0">
            <a:spAutoFit/>
          </a:bodyPr>
          <a:lstStyle/>
          <a:p>
            <a:pPr algn="l">
              <a:lnSpc>
                <a:spcPct val="105000"/>
              </a:lnSpc>
              <a:spcBef>
                <a:spcPts val="0"/>
              </a:spcBef>
              <a:spcAft>
                <a:spcPts val="0"/>
              </a:spcAft>
            </a:pPr>
            <a:r>
              <a:rPr sz="1550" b="1" i="0">
                <a:solidFill>
                  <a:srgbClr val="1E293B"/>
                </a:solidFill>
                <a:latin typeface="Calibri"/>
              </a:rPr>
              <a:t>The pipeline is reproducible</a:t>
            </a:r>
          </a:p>
          <a:p>
            <a:pPr algn="l">
              <a:lnSpc>
                <a:spcPct val="110000"/>
              </a:lnSpc>
              <a:spcBef>
                <a:spcPts val="500"/>
              </a:spcBef>
              <a:spcAft>
                <a:spcPts val="0"/>
              </a:spcAft>
            </a:pPr>
            <a:r>
              <a:rPr sz="1250" b="0" i="0">
                <a:solidFill>
                  <a:srgbClr val="64748B"/>
                </a:solidFill>
                <a:latin typeface="Calibri"/>
              </a:rPr>
              <a:t>the saved preprocessor and model classify new accounts</a:t>
            </a:r>
          </a:p>
        </p:txBody>
      </p:sp>
      <p:sp>
        <p:nvSpPr>
          <p:cNvPr id="16" name="TextBox 15"/>
          <p:cNvSpPr txBox="1"/>
          <p:nvPr/>
        </p:nvSpPr>
        <p:spPr>
          <a:xfrm>
            <a:off x="868680" y="3886200"/>
            <a:ext cx="5486400" cy="365760"/>
          </a:xfrm>
          <a:prstGeom prst="rect">
            <a:avLst/>
          </a:prstGeom>
          <a:noFill/>
        </p:spPr>
        <p:txBody>
          <a:bodyPr wrap="square" anchor="t" lIns="0" rIns="0" tIns="0" bIns="0">
            <a:spAutoFit/>
          </a:bodyPr>
          <a:lstStyle/>
          <a:p>
            <a:pPr algn="l">
              <a:spcBef>
                <a:spcPts val="0"/>
              </a:spcBef>
              <a:spcAft>
                <a:spcPts val="0"/>
              </a:spcAft>
            </a:pPr>
            <a:r>
              <a:rPr sz="1500" b="1" i="0">
                <a:solidFill>
                  <a:srgbClr val="1E293B"/>
                </a:solidFill>
                <a:latin typeface="Calibri"/>
              </a:rPr>
              <a:t>Next steps:</a:t>
            </a:r>
          </a:p>
        </p:txBody>
      </p:sp>
      <p:sp>
        <p:nvSpPr>
          <p:cNvPr id="17" name="Rounded Rectangle 16"/>
          <p:cNvSpPr/>
          <p:nvPr/>
        </p:nvSpPr>
        <p:spPr>
          <a:xfrm>
            <a:off x="868680" y="4389120"/>
            <a:ext cx="2615184" cy="155448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389120"/>
            <a:ext cx="2615184"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 y="4590288"/>
            <a:ext cx="2231136" cy="1261872"/>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E293B"/>
                </a:solidFill>
                <a:latin typeface="Calibri"/>
              </a:rPr>
              <a:t>Hyperparameters</a:t>
            </a:r>
          </a:p>
          <a:p>
            <a:pPr algn="l">
              <a:lnSpc>
                <a:spcPct val="105000"/>
              </a:lnSpc>
              <a:spcBef>
                <a:spcPts val="300"/>
              </a:spcBef>
              <a:spcAft>
                <a:spcPts val="0"/>
              </a:spcAft>
            </a:pPr>
            <a:r>
              <a:rPr sz="1150" b="0" i="0">
                <a:solidFill>
                  <a:srgbClr val="64748B"/>
                </a:solidFill>
                <a:latin typeface="Calibri"/>
              </a:rPr>
              <a:t>random / Bayesian search to lift quality</a:t>
            </a:r>
          </a:p>
        </p:txBody>
      </p:sp>
      <p:sp>
        <p:nvSpPr>
          <p:cNvPr id="20" name="Rounded Rectangle 19"/>
          <p:cNvSpPr/>
          <p:nvPr/>
        </p:nvSpPr>
        <p:spPr>
          <a:xfrm>
            <a:off x="3630168" y="4389120"/>
            <a:ext cx="2615184" cy="155448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30168" y="4389120"/>
            <a:ext cx="2615184"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1336" y="4590288"/>
            <a:ext cx="2231136" cy="1261872"/>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E293B"/>
                </a:solidFill>
                <a:latin typeface="Calibri"/>
              </a:rPr>
              <a:t>Decision threshold</a:t>
            </a:r>
          </a:p>
          <a:p>
            <a:pPr algn="l">
              <a:lnSpc>
                <a:spcPct val="105000"/>
              </a:lnSpc>
              <a:spcBef>
                <a:spcPts val="300"/>
              </a:spcBef>
              <a:spcAft>
                <a:spcPts val="0"/>
              </a:spcAft>
            </a:pPr>
            <a:r>
              <a:rPr sz="1150" b="0" i="0">
                <a:solidFill>
                  <a:srgbClr val="64748B"/>
                </a:solidFill>
                <a:latin typeface="Calibri"/>
              </a:rPr>
              <a:t>balance a miss against a false alarm</a:t>
            </a:r>
          </a:p>
        </p:txBody>
      </p:sp>
      <p:sp>
        <p:nvSpPr>
          <p:cNvPr id="23" name="Rounded Rectangle 22"/>
          <p:cNvSpPr/>
          <p:nvPr/>
        </p:nvSpPr>
        <p:spPr>
          <a:xfrm>
            <a:off x="6391656" y="4389120"/>
            <a:ext cx="2615184" cy="155448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91656" y="4389120"/>
            <a:ext cx="2615184"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2824" y="4590288"/>
            <a:ext cx="2231136" cy="1261872"/>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E293B"/>
                </a:solidFill>
                <a:latin typeface="Calibri"/>
              </a:rPr>
              <a:t>SHAP</a:t>
            </a:r>
          </a:p>
          <a:p>
            <a:pPr algn="l">
              <a:lnSpc>
                <a:spcPct val="105000"/>
              </a:lnSpc>
              <a:spcBef>
                <a:spcPts val="300"/>
              </a:spcBef>
              <a:spcAft>
                <a:spcPts val="0"/>
              </a:spcAft>
            </a:pPr>
            <a:r>
              <a:rPr sz="1150" b="0" i="0">
                <a:solidFill>
                  <a:srgbClr val="64748B"/>
                </a:solidFill>
                <a:latin typeface="Calibri"/>
              </a:rPr>
              <a:t>explain individual model decisions</a:t>
            </a:r>
          </a:p>
        </p:txBody>
      </p:sp>
      <p:sp>
        <p:nvSpPr>
          <p:cNvPr id="26" name="Rounded Rectangle 25"/>
          <p:cNvSpPr/>
          <p:nvPr/>
        </p:nvSpPr>
        <p:spPr>
          <a:xfrm>
            <a:off x="9153144" y="4389120"/>
            <a:ext cx="2615184" cy="1554480"/>
          </a:xfrm>
          <a:prstGeom prst="roundRect">
            <a:avLst>
              <a:gd name="adj" fmla="val 5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53144" y="4389120"/>
            <a:ext cx="2615184"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54312" y="4590288"/>
            <a:ext cx="2231136" cy="1261872"/>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E293B"/>
                </a:solidFill>
                <a:latin typeface="Calibri"/>
              </a:rPr>
              <a:t>Online monitoring</a:t>
            </a:r>
          </a:p>
          <a:p>
            <a:pPr algn="l">
              <a:lnSpc>
                <a:spcPct val="105000"/>
              </a:lnSpc>
              <a:spcBef>
                <a:spcPts val="300"/>
              </a:spcBef>
              <a:spcAft>
                <a:spcPts val="0"/>
              </a:spcAft>
            </a:pPr>
            <a:r>
              <a:rPr sz="1150" b="0" i="0">
                <a:solidFill>
                  <a:srgbClr val="64748B"/>
                </a:solidFill>
                <a:latin typeface="Calibri"/>
              </a:rPr>
              <a:t>flag suspicious accounts in real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5F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tif_network.png"/>
          <p:cNvPicPr>
            <a:picLocks noChangeAspect="1"/>
          </p:cNvPicPr>
          <p:nvPr/>
        </p:nvPicPr>
        <p:blipFill>
          <a:blip r:embed="rId2"/>
          <a:stretch>
            <a:fillRect/>
          </a:stretch>
        </p:blipFill>
        <p:spPr>
          <a:xfrm>
            <a:off x="7680960" y="3309983"/>
            <a:ext cx="4023360" cy="2889794"/>
          </a:xfrm>
          <a:prstGeom prst="rect">
            <a:avLst/>
          </a:prstGeom>
        </p:spPr>
      </p:pic>
      <p:sp>
        <p:nvSpPr>
          <p:cNvPr id="4" name="TextBox 3"/>
          <p:cNvSpPr txBox="1"/>
          <p:nvPr/>
        </p:nvSpPr>
        <p:spPr>
          <a:xfrm>
            <a:off x="868680" y="2468880"/>
            <a:ext cx="7315200" cy="1828800"/>
          </a:xfrm>
          <a:prstGeom prst="rect">
            <a:avLst/>
          </a:prstGeom>
          <a:noFill/>
        </p:spPr>
        <p:txBody>
          <a:bodyPr wrap="square" anchor="t" lIns="0" rIns="0" tIns="0" bIns="0">
            <a:spAutoFit/>
          </a:bodyPr>
          <a:lstStyle/>
          <a:p>
            <a:pPr algn="l">
              <a:spcBef>
                <a:spcPts val="0"/>
              </a:spcBef>
              <a:spcAft>
                <a:spcPts val="0"/>
              </a:spcAft>
            </a:pPr>
            <a:r>
              <a:rPr sz="4000" b="1" i="0">
                <a:solidFill>
                  <a:srgbClr val="1E293B"/>
                </a:solidFill>
                <a:latin typeface="Calibri"/>
              </a:rPr>
              <a:t>Thank you for your attention</a:t>
            </a:r>
          </a:p>
          <a:p>
            <a:pPr algn="l">
              <a:spcBef>
                <a:spcPts val="1400"/>
              </a:spcBef>
              <a:spcAft>
                <a:spcPts val="0"/>
              </a:spcAft>
            </a:pPr>
            <a:r>
              <a:rPr sz="2000" b="0" i="0">
                <a:solidFill>
                  <a:srgbClr val="64748B"/>
                </a:solidFill>
                <a:latin typeface="Calibri"/>
              </a:rPr>
              <a:t>Happy to take questions</a:t>
            </a:r>
          </a:p>
        </p:txBody>
      </p:sp>
      <p:sp>
        <p:nvSpPr>
          <p:cNvPr id="5" name="Rectangle 4"/>
          <p:cNvSpPr/>
          <p:nvPr/>
        </p:nvSpPr>
        <p:spPr>
          <a:xfrm>
            <a:off x="896112" y="4114800"/>
            <a:ext cx="914400" cy="508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